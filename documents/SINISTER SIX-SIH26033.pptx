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D4D9"/>
    <a:srgbClr val="ADFFBB"/>
    <a:srgbClr val="FFF0F2"/>
    <a:srgbClr val="D6546A"/>
    <a:srgbClr val="A9F58E"/>
    <a:srgbClr val="90EE90"/>
    <a:srgbClr val="E36F6F"/>
    <a:srgbClr val="D94545"/>
    <a:srgbClr val="39B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7.png" /><Relationship Id="rId5" Type="http://schemas.openxmlformats.org/officeDocument/2006/relationships/image" Target="../media/image2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hyperlink" Target="https://www.nabard.org/contentsearch.aspx?AID=95&amp;Key=ntro" TargetMode="Externa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6" Type="http://schemas.openxmlformats.org/officeDocument/2006/relationships/hyperlink" Target="https://www.sfacindia.com/FPOS.aspx" TargetMode="External" /><Relationship Id="rId5" Type="http://schemas.openxmlformats.org/officeDocument/2006/relationships/hyperlink" Target="https://www.sfacindia.com/" TargetMode="External" /><Relationship Id="rId4" Type="http://schemas.openxmlformats.org/officeDocument/2006/relationships/hyperlink" Target="https://enam.gov.i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30701" y="1933595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976238" y="-260662"/>
            <a:ext cx="7799010" cy="1374927"/>
          </a:xfrm>
        </p:spPr>
        <p:txBody>
          <a:bodyPr/>
          <a:lstStyle/>
          <a:p>
            <a:r>
              <a:rPr lang="en-US" sz="3600" b="1">
                <a:solidFill>
                  <a:schemeClr val="tx2"/>
                </a:solidFill>
                <a:latin typeface="Times New Roman"/>
                <a:ea typeface="ＭＳ Ｐゴシック"/>
                <a:cs typeface="Times New Roman"/>
              </a:rPr>
              <a:t>SMART INDIA HACKATHON 2026</a:t>
            </a:r>
            <a:endParaRPr lang="en-IN" sz="3600" b="1">
              <a:solidFill>
                <a:schemeClr val="tx2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060450"/>
            <a:ext cx="5924550" cy="46082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000" b="1">
              <a:latin typeface="Verdana"/>
              <a:ea typeface="Verdana"/>
              <a:cs typeface="Arial"/>
            </a:endParaRPr>
          </a:p>
          <a:p>
            <a:r>
              <a:rPr lang="en-US" sz="2000" b="1" dirty="0">
                <a:latin typeface="Verdana"/>
                <a:ea typeface="Verdana"/>
                <a:cs typeface="Arial"/>
              </a:rPr>
              <a:t>Problem Statement ID</a:t>
            </a:r>
            <a:r>
              <a:rPr lang="en-US" sz="2000" b="1" dirty="0">
                <a:solidFill>
                  <a:srgbClr val="000000"/>
                </a:solidFill>
                <a:latin typeface="Verdana"/>
                <a:ea typeface="Verdana"/>
                <a:cs typeface="Arial"/>
              </a:rPr>
              <a:t>:</a:t>
            </a:r>
            <a:r>
              <a:rPr lang="en-US" sz="2000" b="1" dirty="0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 SIH26033</a:t>
            </a:r>
            <a:endParaRPr lang="en-US" sz="2000">
              <a:solidFill>
                <a:srgbClr val="0000FF"/>
              </a:solidFill>
              <a:latin typeface="Verdana"/>
              <a:ea typeface="Verdana"/>
              <a:cs typeface="Arial"/>
            </a:endParaRPr>
          </a:p>
          <a:p>
            <a:endParaRPr lang="en-US" sz="2000" b="1">
              <a:solidFill>
                <a:srgbClr val="0000FF"/>
              </a:solidFill>
              <a:latin typeface="Verdana"/>
              <a:ea typeface="Verdana"/>
              <a:cs typeface="Arial"/>
            </a:endParaRPr>
          </a:p>
          <a:p>
            <a:r>
              <a:rPr lang="en-US" sz="2000" b="1" dirty="0">
                <a:latin typeface="Verdana"/>
                <a:ea typeface="Verdana"/>
                <a:cs typeface="Arial"/>
              </a:rPr>
              <a:t>Problem Statement Title:</a:t>
            </a:r>
            <a:r>
              <a:rPr lang="en-US" sz="2000" b="1" dirty="0">
                <a:solidFill>
                  <a:schemeClr val="tx2"/>
                </a:solidFill>
                <a:latin typeface="Verdana"/>
                <a:ea typeface="Verdana"/>
                <a:cs typeface="Arial"/>
              </a:rPr>
              <a:t> </a:t>
            </a:r>
            <a:r>
              <a:rPr lang="en-IN" sz="2000" b="1" dirty="0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Multiple intermediaries reduce farmer earnings and increase consumer prices.</a:t>
            </a:r>
            <a:endParaRPr lang="en-IN" sz="2000" dirty="0">
              <a:solidFill>
                <a:srgbClr val="0000FF"/>
              </a:solidFill>
              <a:latin typeface="Verdana"/>
              <a:ea typeface="Verdana"/>
              <a:cs typeface="Arial"/>
            </a:endParaRPr>
          </a:p>
          <a:p>
            <a:endParaRPr lang="en-US" sz="2000" b="1">
              <a:latin typeface="Verdana"/>
              <a:ea typeface="Verdana"/>
              <a:cs typeface="Arial"/>
            </a:endParaRPr>
          </a:p>
          <a:p>
            <a:r>
              <a:rPr lang="en-US" sz="2000" b="1" dirty="0">
                <a:latin typeface="Verdana"/>
                <a:ea typeface="Verdana"/>
                <a:cs typeface="Arial"/>
              </a:rPr>
              <a:t>Theme: </a:t>
            </a:r>
            <a:r>
              <a:rPr lang="en-US" sz="2000" b="1" dirty="0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Agriculture, </a:t>
            </a:r>
            <a:r>
              <a:rPr lang="en-US" sz="2000" b="1" dirty="0" err="1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FoodTech</a:t>
            </a:r>
            <a:r>
              <a:rPr lang="en-US" sz="2000" b="1" dirty="0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 &amp; Rural Development</a:t>
            </a:r>
            <a:endParaRPr lang="en-US" sz="2000" dirty="0">
              <a:latin typeface="Verdana"/>
              <a:ea typeface="Verdana"/>
              <a:cs typeface="Arial"/>
            </a:endParaRPr>
          </a:p>
          <a:p>
            <a:endParaRPr lang="en-US" sz="2000" b="1">
              <a:latin typeface="Verdana"/>
              <a:ea typeface="Verdana"/>
              <a:cs typeface="Arial"/>
            </a:endParaRPr>
          </a:p>
          <a:p>
            <a:r>
              <a:rPr lang="en-US" sz="2000" b="1" dirty="0">
                <a:latin typeface="Verdana"/>
                <a:ea typeface="Verdana"/>
                <a:cs typeface="Arial"/>
              </a:rPr>
              <a:t>PS Category: </a:t>
            </a:r>
            <a:r>
              <a:rPr lang="en-US" sz="2000" b="1" dirty="0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Software</a:t>
            </a:r>
            <a:endParaRPr lang="en-US" sz="2000" b="1" dirty="0">
              <a:solidFill>
                <a:srgbClr val="000000"/>
              </a:solidFill>
              <a:latin typeface="Verdana"/>
              <a:ea typeface="Verdana"/>
              <a:cs typeface="Arial"/>
            </a:endParaRP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Verdana"/>
                <a:ea typeface="Verdana"/>
                <a:cs typeface="Arial"/>
              </a:rPr>
              <a:t>Team ID-</a:t>
            </a:r>
            <a:r>
              <a:rPr lang="en-US" sz="2000" b="1" dirty="0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 139407</a:t>
            </a:r>
            <a:endParaRPr lang="en-IN" sz="2000" b="1" dirty="0">
              <a:solidFill>
                <a:srgbClr val="0000FF"/>
              </a:solidFill>
              <a:latin typeface="Verdana"/>
              <a:ea typeface="Verdana"/>
              <a:cs typeface="Arial"/>
            </a:endParaRPr>
          </a:p>
          <a:p>
            <a:pPr algn="just">
              <a:lnSpc>
                <a:spcPct val="200000"/>
              </a:lnSpc>
            </a:pPr>
            <a:r>
              <a:rPr lang="en-US" sz="2000" b="1" dirty="0">
                <a:latin typeface="Verdana"/>
                <a:ea typeface="Verdana"/>
                <a:cs typeface="Arial"/>
              </a:rPr>
              <a:t>Team Name: </a:t>
            </a:r>
            <a:r>
              <a:rPr lang="en-US" sz="2000" b="1" dirty="0">
                <a:solidFill>
                  <a:srgbClr val="0000FF"/>
                </a:solidFill>
                <a:latin typeface="Verdana"/>
                <a:ea typeface="Verdana"/>
                <a:cs typeface="Arial"/>
              </a:rPr>
              <a:t>SINISTER SIX*</a:t>
            </a:r>
            <a:endParaRPr lang="en-IN" sz="2000" b="1" dirty="0">
              <a:solidFill>
                <a:srgbClr val="0000FF"/>
              </a:solidFill>
              <a:latin typeface="Verdana"/>
              <a:ea typeface="Verdana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7" name="object 23">
            <a:extLst>
              <a:ext uri="{FF2B5EF4-FFF2-40B4-BE49-F238E27FC236}">
                <a16:creationId xmlns:a16="http://schemas.microsoft.com/office/drawing/2014/main" id="{41262E2F-E0D0-2F85-04E9-64586E20D935}"/>
              </a:ext>
            </a:extLst>
          </p:cNvPr>
          <p:cNvSpPr/>
          <p:nvPr/>
        </p:nvSpPr>
        <p:spPr>
          <a:xfrm>
            <a:off x="-5927" y="161472"/>
            <a:ext cx="2181768" cy="523966"/>
          </a:xfrm>
          <a:custGeom>
            <a:avLst/>
            <a:gdLst/>
            <a:ahLst/>
            <a:cxnLst/>
            <a:rect l="l" t="t" r="r" b="b"/>
            <a:pathLst>
              <a:path w="1710055" h="487680">
                <a:moveTo>
                  <a:pt x="0" y="243840"/>
                </a:moveTo>
                <a:lnTo>
                  <a:pt x="10794" y="204470"/>
                </a:lnTo>
                <a:lnTo>
                  <a:pt x="43179" y="167004"/>
                </a:lnTo>
                <a:lnTo>
                  <a:pt x="95249" y="131445"/>
                </a:lnTo>
                <a:lnTo>
                  <a:pt x="165100" y="99695"/>
                </a:lnTo>
                <a:lnTo>
                  <a:pt x="205740" y="85090"/>
                </a:lnTo>
                <a:lnTo>
                  <a:pt x="250190" y="71120"/>
                </a:lnTo>
                <a:lnTo>
                  <a:pt x="298450" y="58420"/>
                </a:lnTo>
                <a:lnTo>
                  <a:pt x="349885" y="46990"/>
                </a:lnTo>
                <a:lnTo>
                  <a:pt x="404495" y="36195"/>
                </a:lnTo>
                <a:lnTo>
                  <a:pt x="461644" y="27304"/>
                </a:lnTo>
                <a:lnTo>
                  <a:pt x="521969" y="19050"/>
                </a:lnTo>
                <a:lnTo>
                  <a:pt x="584835" y="12065"/>
                </a:lnTo>
                <a:lnTo>
                  <a:pt x="649605" y="6984"/>
                </a:lnTo>
                <a:lnTo>
                  <a:pt x="716280" y="3175"/>
                </a:lnTo>
                <a:lnTo>
                  <a:pt x="784860" y="634"/>
                </a:lnTo>
                <a:lnTo>
                  <a:pt x="854710" y="0"/>
                </a:lnTo>
                <a:lnTo>
                  <a:pt x="925194" y="634"/>
                </a:lnTo>
                <a:lnTo>
                  <a:pt x="993775" y="3175"/>
                </a:lnTo>
                <a:lnTo>
                  <a:pt x="1060450" y="6984"/>
                </a:lnTo>
                <a:lnTo>
                  <a:pt x="1125220" y="12065"/>
                </a:lnTo>
                <a:lnTo>
                  <a:pt x="1187450" y="19050"/>
                </a:lnTo>
                <a:lnTo>
                  <a:pt x="1247775" y="27304"/>
                </a:lnTo>
                <a:lnTo>
                  <a:pt x="1304925" y="36195"/>
                </a:lnTo>
                <a:lnTo>
                  <a:pt x="1359535" y="46990"/>
                </a:lnTo>
                <a:lnTo>
                  <a:pt x="1410970" y="58420"/>
                </a:lnTo>
                <a:lnTo>
                  <a:pt x="1459230" y="71120"/>
                </a:lnTo>
                <a:lnTo>
                  <a:pt x="1503680" y="85090"/>
                </a:lnTo>
                <a:lnTo>
                  <a:pt x="1544955" y="99695"/>
                </a:lnTo>
                <a:lnTo>
                  <a:pt x="1581785" y="115570"/>
                </a:lnTo>
                <a:lnTo>
                  <a:pt x="1642745" y="148590"/>
                </a:lnTo>
                <a:lnTo>
                  <a:pt x="1684655" y="185420"/>
                </a:lnTo>
                <a:lnTo>
                  <a:pt x="1706880" y="223520"/>
                </a:lnTo>
                <a:lnTo>
                  <a:pt x="1710055" y="243840"/>
                </a:lnTo>
                <a:lnTo>
                  <a:pt x="1706880" y="263525"/>
                </a:lnTo>
                <a:lnTo>
                  <a:pt x="1684655" y="302260"/>
                </a:lnTo>
                <a:lnTo>
                  <a:pt x="1642745" y="338454"/>
                </a:lnTo>
                <a:lnTo>
                  <a:pt x="1581785" y="372110"/>
                </a:lnTo>
                <a:lnTo>
                  <a:pt x="1544955" y="387985"/>
                </a:lnTo>
                <a:lnTo>
                  <a:pt x="1503680" y="402589"/>
                </a:lnTo>
                <a:lnTo>
                  <a:pt x="1459230" y="415925"/>
                </a:lnTo>
                <a:lnTo>
                  <a:pt x="1410970" y="428625"/>
                </a:lnTo>
                <a:lnTo>
                  <a:pt x="1359535" y="440689"/>
                </a:lnTo>
                <a:lnTo>
                  <a:pt x="1304925" y="450850"/>
                </a:lnTo>
                <a:lnTo>
                  <a:pt x="1247775" y="460375"/>
                </a:lnTo>
                <a:lnTo>
                  <a:pt x="1187450" y="468629"/>
                </a:lnTo>
                <a:lnTo>
                  <a:pt x="1125220" y="474979"/>
                </a:lnTo>
                <a:lnTo>
                  <a:pt x="1060450" y="480695"/>
                </a:lnTo>
                <a:lnTo>
                  <a:pt x="993775" y="484504"/>
                </a:lnTo>
                <a:lnTo>
                  <a:pt x="925194" y="487045"/>
                </a:lnTo>
                <a:lnTo>
                  <a:pt x="854710" y="487679"/>
                </a:lnTo>
                <a:lnTo>
                  <a:pt x="784860" y="487045"/>
                </a:lnTo>
                <a:lnTo>
                  <a:pt x="716280" y="484504"/>
                </a:lnTo>
                <a:lnTo>
                  <a:pt x="649605" y="480695"/>
                </a:lnTo>
                <a:lnTo>
                  <a:pt x="584835" y="474979"/>
                </a:lnTo>
                <a:lnTo>
                  <a:pt x="521969" y="468629"/>
                </a:lnTo>
                <a:lnTo>
                  <a:pt x="461644" y="460375"/>
                </a:lnTo>
                <a:lnTo>
                  <a:pt x="404495" y="450850"/>
                </a:lnTo>
                <a:lnTo>
                  <a:pt x="349885" y="440689"/>
                </a:lnTo>
                <a:lnTo>
                  <a:pt x="298450" y="428625"/>
                </a:lnTo>
                <a:lnTo>
                  <a:pt x="250190" y="415925"/>
                </a:lnTo>
                <a:lnTo>
                  <a:pt x="205740" y="402589"/>
                </a:lnTo>
                <a:lnTo>
                  <a:pt x="165100" y="387985"/>
                </a:lnTo>
                <a:lnTo>
                  <a:pt x="128270" y="372110"/>
                </a:lnTo>
                <a:lnTo>
                  <a:pt x="67310" y="338454"/>
                </a:lnTo>
                <a:lnTo>
                  <a:pt x="24765" y="302260"/>
                </a:lnTo>
                <a:lnTo>
                  <a:pt x="2540" y="263525"/>
                </a:lnTo>
                <a:lnTo>
                  <a:pt x="0" y="243840"/>
                </a:lnTo>
                <a:close/>
              </a:path>
            </a:pathLst>
          </a:custGeom>
          <a:ln w="12700">
            <a:solidFill>
              <a:srgbClr val="1C2E52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9" name="object 24">
            <a:extLst>
              <a:ext uri="{FF2B5EF4-FFF2-40B4-BE49-F238E27FC236}">
                <a16:creationId xmlns:a16="http://schemas.microsoft.com/office/drawing/2014/main" id="{50C726E3-58D2-F18D-90A1-DEF08F67C81A}"/>
              </a:ext>
            </a:extLst>
          </p:cNvPr>
          <p:cNvSpPr txBox="1"/>
          <p:nvPr/>
        </p:nvSpPr>
        <p:spPr>
          <a:xfrm>
            <a:off x="253056" y="297421"/>
            <a:ext cx="1939258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00"/>
              </a:spcBef>
            </a:pPr>
            <a:r>
              <a:rPr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SINISTER</a:t>
            </a:r>
            <a:r>
              <a:rPr lang="en-US"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 </a:t>
            </a:r>
            <a:r>
              <a:rPr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SIX</a:t>
            </a:r>
            <a:r>
              <a:rPr lang="en-US"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*</a:t>
            </a:r>
            <a:endParaRPr lang="en-US" sz="1600">
              <a:latin typeface="Verdana"/>
              <a:ea typeface="Verdana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046748" y="7942"/>
            <a:ext cx="8468181" cy="659916"/>
          </a:xfrm>
        </p:spPr>
        <p:txBody>
          <a:bodyPr/>
          <a:lstStyle/>
          <a:p>
            <a:pPr eaLnBrk="1" hangingPunct="1"/>
            <a:b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err="1">
                <a:solidFill>
                  <a:srgbClr val="0000FF"/>
                </a:solidFill>
                <a:latin typeface="Times New Roman"/>
                <a:ea typeface="Verdana"/>
                <a:cs typeface="Times New Roman"/>
              </a:rPr>
              <a:t>KisanSetu</a:t>
            </a:r>
            <a:r>
              <a:rPr lang="en-US" sz="2800" b="1">
                <a:solidFill>
                  <a:srgbClr val="0000FF"/>
                </a:solidFill>
                <a:latin typeface="Times New Roman"/>
                <a:ea typeface="Verdana"/>
                <a:cs typeface="Times New Roman"/>
              </a:rPr>
              <a:t>- Direct Marketplace for Famers &amp; Buyers</a:t>
            </a:r>
            <a:endParaRPr lang="en-US" sz="2800">
              <a:solidFill>
                <a:srgbClr val="0000FF"/>
              </a:solidFill>
              <a:latin typeface="Times New Roman"/>
              <a:ea typeface="Verdana"/>
              <a:cs typeface="Times New Roman"/>
            </a:endParaRPr>
          </a:p>
          <a:p>
            <a:endParaRPr lang="en-US" sz="2800" b="1">
              <a:solidFill>
                <a:srgbClr val="0000FF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105" y="74070"/>
            <a:ext cx="1692388" cy="66626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A284485-7412-6935-8F9D-B37160139673}"/>
              </a:ext>
            </a:extLst>
          </p:cNvPr>
          <p:cNvGrpSpPr/>
          <p:nvPr/>
        </p:nvGrpSpPr>
        <p:grpSpPr>
          <a:xfrm>
            <a:off x="830238" y="685365"/>
            <a:ext cx="9770788" cy="669078"/>
            <a:chOff x="830238" y="730858"/>
            <a:chExt cx="9770788" cy="66907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EDC099-FE1F-8380-CF5C-1B5DB5B9C80A}"/>
                </a:ext>
              </a:extLst>
            </p:cNvPr>
            <p:cNvSpPr txBox="1"/>
            <p:nvPr/>
          </p:nvSpPr>
          <p:spPr>
            <a:xfrm>
              <a:off x="830238" y="753605"/>
              <a:ext cx="4482279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i="0" baseline="0">
                  <a:solidFill>
                    <a:srgbClr val="0D172A"/>
                  </a:solidFill>
                  <a:latin typeface="Verdana"/>
                  <a:ea typeface="Verdana"/>
                </a:rPr>
                <a:t>Understanding The Problem</a:t>
              </a:r>
              <a:r>
                <a:rPr b="0" i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​</a:t>
              </a:r>
              <a:endParaRPr lang="en-US">
                <a:latin typeface="Verdana"/>
                <a:ea typeface="Verdana"/>
              </a:endParaRPr>
            </a:p>
            <a:p>
              <a:pPr algn="ctr"/>
              <a:endParaRPr lang="en-US">
                <a:latin typeface="Verdana"/>
                <a:ea typeface="Verdan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57B31C-887C-6863-CC02-84C02C62A084}"/>
                </a:ext>
              </a:extLst>
            </p:cNvPr>
            <p:cNvSpPr txBox="1"/>
            <p:nvPr/>
          </p:nvSpPr>
          <p:spPr>
            <a:xfrm>
              <a:off x="8438864" y="730858"/>
              <a:ext cx="2162162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latin typeface="Verdana"/>
                  <a:ea typeface="Verdana"/>
                </a:rPr>
                <a:t>Our Solution</a:t>
              </a:r>
            </a:p>
          </p:txBody>
        </p:sp>
      </p:grpSp>
      <p:sp>
        <p:nvSpPr>
          <p:cNvPr id="15" name="object 23">
            <a:extLst>
              <a:ext uri="{FF2B5EF4-FFF2-40B4-BE49-F238E27FC236}">
                <a16:creationId xmlns:a16="http://schemas.microsoft.com/office/drawing/2014/main" id="{43F28427-3A21-7FA5-AC59-E5BA58C5EFD7}"/>
              </a:ext>
            </a:extLst>
          </p:cNvPr>
          <p:cNvSpPr/>
          <p:nvPr/>
        </p:nvSpPr>
        <p:spPr>
          <a:xfrm>
            <a:off x="6168" y="137282"/>
            <a:ext cx="2181768" cy="536061"/>
          </a:xfrm>
          <a:custGeom>
            <a:avLst/>
            <a:gdLst/>
            <a:ahLst/>
            <a:cxnLst/>
            <a:rect l="l" t="t" r="r" b="b"/>
            <a:pathLst>
              <a:path w="1710055" h="487680">
                <a:moveTo>
                  <a:pt x="0" y="243840"/>
                </a:moveTo>
                <a:lnTo>
                  <a:pt x="10794" y="204470"/>
                </a:lnTo>
                <a:lnTo>
                  <a:pt x="43179" y="167004"/>
                </a:lnTo>
                <a:lnTo>
                  <a:pt x="95249" y="131445"/>
                </a:lnTo>
                <a:lnTo>
                  <a:pt x="165100" y="99695"/>
                </a:lnTo>
                <a:lnTo>
                  <a:pt x="205740" y="85090"/>
                </a:lnTo>
                <a:lnTo>
                  <a:pt x="250190" y="71120"/>
                </a:lnTo>
                <a:lnTo>
                  <a:pt x="298450" y="58420"/>
                </a:lnTo>
                <a:lnTo>
                  <a:pt x="349885" y="46990"/>
                </a:lnTo>
                <a:lnTo>
                  <a:pt x="404495" y="36195"/>
                </a:lnTo>
                <a:lnTo>
                  <a:pt x="461644" y="27304"/>
                </a:lnTo>
                <a:lnTo>
                  <a:pt x="521969" y="19050"/>
                </a:lnTo>
                <a:lnTo>
                  <a:pt x="584835" y="12065"/>
                </a:lnTo>
                <a:lnTo>
                  <a:pt x="649605" y="6984"/>
                </a:lnTo>
                <a:lnTo>
                  <a:pt x="716280" y="3175"/>
                </a:lnTo>
                <a:lnTo>
                  <a:pt x="784860" y="634"/>
                </a:lnTo>
                <a:lnTo>
                  <a:pt x="854710" y="0"/>
                </a:lnTo>
                <a:lnTo>
                  <a:pt x="925194" y="634"/>
                </a:lnTo>
                <a:lnTo>
                  <a:pt x="993775" y="3175"/>
                </a:lnTo>
                <a:lnTo>
                  <a:pt x="1060450" y="6984"/>
                </a:lnTo>
                <a:lnTo>
                  <a:pt x="1125220" y="12065"/>
                </a:lnTo>
                <a:lnTo>
                  <a:pt x="1187450" y="19050"/>
                </a:lnTo>
                <a:lnTo>
                  <a:pt x="1247775" y="27304"/>
                </a:lnTo>
                <a:lnTo>
                  <a:pt x="1304925" y="36195"/>
                </a:lnTo>
                <a:lnTo>
                  <a:pt x="1359535" y="46990"/>
                </a:lnTo>
                <a:lnTo>
                  <a:pt x="1410970" y="58420"/>
                </a:lnTo>
                <a:lnTo>
                  <a:pt x="1459230" y="71120"/>
                </a:lnTo>
                <a:lnTo>
                  <a:pt x="1503680" y="85090"/>
                </a:lnTo>
                <a:lnTo>
                  <a:pt x="1544955" y="99695"/>
                </a:lnTo>
                <a:lnTo>
                  <a:pt x="1581785" y="115570"/>
                </a:lnTo>
                <a:lnTo>
                  <a:pt x="1642745" y="148590"/>
                </a:lnTo>
                <a:lnTo>
                  <a:pt x="1684655" y="185420"/>
                </a:lnTo>
                <a:lnTo>
                  <a:pt x="1706880" y="223520"/>
                </a:lnTo>
                <a:lnTo>
                  <a:pt x="1710055" y="243840"/>
                </a:lnTo>
                <a:lnTo>
                  <a:pt x="1706880" y="263525"/>
                </a:lnTo>
                <a:lnTo>
                  <a:pt x="1684655" y="302260"/>
                </a:lnTo>
                <a:lnTo>
                  <a:pt x="1642745" y="338454"/>
                </a:lnTo>
                <a:lnTo>
                  <a:pt x="1581785" y="372110"/>
                </a:lnTo>
                <a:lnTo>
                  <a:pt x="1544955" y="387985"/>
                </a:lnTo>
                <a:lnTo>
                  <a:pt x="1503680" y="402589"/>
                </a:lnTo>
                <a:lnTo>
                  <a:pt x="1459230" y="415925"/>
                </a:lnTo>
                <a:lnTo>
                  <a:pt x="1410970" y="428625"/>
                </a:lnTo>
                <a:lnTo>
                  <a:pt x="1359535" y="440689"/>
                </a:lnTo>
                <a:lnTo>
                  <a:pt x="1304925" y="450850"/>
                </a:lnTo>
                <a:lnTo>
                  <a:pt x="1247775" y="460375"/>
                </a:lnTo>
                <a:lnTo>
                  <a:pt x="1187450" y="468629"/>
                </a:lnTo>
                <a:lnTo>
                  <a:pt x="1125220" y="474979"/>
                </a:lnTo>
                <a:lnTo>
                  <a:pt x="1060450" y="480695"/>
                </a:lnTo>
                <a:lnTo>
                  <a:pt x="993775" y="484504"/>
                </a:lnTo>
                <a:lnTo>
                  <a:pt x="925194" y="487045"/>
                </a:lnTo>
                <a:lnTo>
                  <a:pt x="854710" y="487679"/>
                </a:lnTo>
                <a:lnTo>
                  <a:pt x="784860" y="487045"/>
                </a:lnTo>
                <a:lnTo>
                  <a:pt x="716280" y="484504"/>
                </a:lnTo>
                <a:lnTo>
                  <a:pt x="649605" y="480695"/>
                </a:lnTo>
                <a:lnTo>
                  <a:pt x="584835" y="474979"/>
                </a:lnTo>
                <a:lnTo>
                  <a:pt x="521969" y="468629"/>
                </a:lnTo>
                <a:lnTo>
                  <a:pt x="461644" y="460375"/>
                </a:lnTo>
                <a:lnTo>
                  <a:pt x="404495" y="450850"/>
                </a:lnTo>
                <a:lnTo>
                  <a:pt x="349885" y="440689"/>
                </a:lnTo>
                <a:lnTo>
                  <a:pt x="298450" y="428625"/>
                </a:lnTo>
                <a:lnTo>
                  <a:pt x="250190" y="415925"/>
                </a:lnTo>
                <a:lnTo>
                  <a:pt x="205740" y="402589"/>
                </a:lnTo>
                <a:lnTo>
                  <a:pt x="165100" y="387985"/>
                </a:lnTo>
                <a:lnTo>
                  <a:pt x="128270" y="372110"/>
                </a:lnTo>
                <a:lnTo>
                  <a:pt x="67310" y="338454"/>
                </a:lnTo>
                <a:lnTo>
                  <a:pt x="24765" y="302260"/>
                </a:lnTo>
                <a:lnTo>
                  <a:pt x="2540" y="263525"/>
                </a:lnTo>
                <a:lnTo>
                  <a:pt x="0" y="243840"/>
                </a:lnTo>
                <a:close/>
              </a:path>
            </a:pathLst>
          </a:custGeom>
          <a:ln w="12700">
            <a:solidFill>
              <a:srgbClr val="1C2E52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18" name="object 24">
            <a:extLst>
              <a:ext uri="{FF2B5EF4-FFF2-40B4-BE49-F238E27FC236}">
                <a16:creationId xmlns:a16="http://schemas.microsoft.com/office/drawing/2014/main" id="{787CEA3D-D266-2CBA-0AED-C49F00410453}"/>
              </a:ext>
            </a:extLst>
          </p:cNvPr>
          <p:cNvSpPr txBox="1"/>
          <p:nvPr/>
        </p:nvSpPr>
        <p:spPr>
          <a:xfrm>
            <a:off x="253056" y="297421"/>
            <a:ext cx="1939258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00"/>
              </a:spcBef>
            </a:pPr>
            <a:r>
              <a:rPr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SINISTER</a:t>
            </a:r>
            <a:r>
              <a:rPr lang="en-US"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 </a:t>
            </a:r>
            <a:r>
              <a:rPr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SIX</a:t>
            </a:r>
            <a:r>
              <a:rPr lang="en-US"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*</a:t>
            </a:r>
            <a:endParaRPr lang="en-US" sz="1600">
              <a:latin typeface="Verdana"/>
              <a:ea typeface="Verdana"/>
              <a:cs typeface="Times New Roman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C894D2-DA5B-177E-B863-AFD261F56319}"/>
              </a:ext>
            </a:extLst>
          </p:cNvPr>
          <p:cNvGrpSpPr/>
          <p:nvPr/>
        </p:nvGrpSpPr>
        <p:grpSpPr>
          <a:xfrm>
            <a:off x="44312" y="1100373"/>
            <a:ext cx="12097872" cy="3851022"/>
            <a:chOff x="44312" y="1117978"/>
            <a:chExt cx="12097872" cy="38510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059115F-1376-1E39-7F00-A2BDE43A34FE}"/>
                </a:ext>
              </a:extLst>
            </p:cNvPr>
            <p:cNvGrpSpPr/>
            <p:nvPr/>
          </p:nvGrpSpPr>
          <p:grpSpPr>
            <a:xfrm>
              <a:off x="44312" y="1117978"/>
              <a:ext cx="6106575" cy="3851022"/>
              <a:chOff x="-16534" y="1117978"/>
              <a:chExt cx="6106575" cy="3851022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07F3B4E-86A2-8101-CFA8-0670B482D6BA}"/>
                  </a:ext>
                </a:extLst>
              </p:cNvPr>
              <p:cNvSpPr/>
              <p:nvPr/>
            </p:nvSpPr>
            <p:spPr>
              <a:xfrm>
                <a:off x="-16534" y="1117978"/>
                <a:ext cx="6021293" cy="3557300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u="sng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53A7C79-97E4-8875-6C37-A5E2B6F2118A}"/>
                  </a:ext>
                </a:extLst>
              </p:cNvPr>
              <p:cNvSpPr txBox="1"/>
              <p:nvPr/>
            </p:nvSpPr>
            <p:spPr>
              <a:xfrm>
                <a:off x="5413" y="1214126"/>
                <a:ext cx="6084628" cy="375487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Intermediate Fragmentation: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 Produce goes through 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4-6 layers of intermediaries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 (aggregators, </a:t>
                </a:r>
                <a:r>
                  <a:rPr lang="en-US" sz="1600" dirty="0" err="1">
                    <a:latin typeface="Aptos Display"/>
                    <a:ea typeface="Calibri"/>
                    <a:cs typeface="Calibri"/>
                  </a:rPr>
                  <a:t>arhatiyas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, and wholesalers), which drain out value without giving back any commensurate utility. </a:t>
                </a:r>
                <a:endParaRPr lang="en-US"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Low Farmer Realization: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 Farmers realize 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only 30-35%</a:t>
                </a: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 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of the final consumer price for perishables (proved by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studies by NABARD/ICAR)</a:t>
                </a: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.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 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Price Inflation for Consumers: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 Consumers have to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pay 2-3x the farm-gate price</a:t>
                </a: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 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due to the cumulative margins and inefficiencies in logistics systems. 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Price Discovery Through Obscure Channels: 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The perishable nature of produce creates vulnerabilities for farmers in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distress sales and market manipulation</a:t>
                </a:r>
                <a:r>
                  <a:rPr lang="en-US" sz="1600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. </a:t>
                </a:r>
                <a:endParaRPr lang="en-US" sz="1600" dirty="0">
                  <a:latin typeface="Aptos Display"/>
                  <a:ea typeface="Calibri"/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Trust and Transport Bottleneck: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Lack of reliable buyer channels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 and transport logistics prevents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stranger-to-stranger</a:t>
                </a:r>
                <a:r>
                  <a:rPr lang="en-US" sz="1600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 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transactions. </a:t>
                </a:r>
              </a:p>
              <a:p>
                <a:endParaRPr lang="en-US" sz="1400" dirty="0">
                  <a:latin typeface="Calibri"/>
                  <a:ea typeface="Calibri"/>
                  <a:cs typeface="Calibri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85FA485-DF27-2F2E-3D36-5FD22A008423}"/>
                </a:ext>
              </a:extLst>
            </p:cNvPr>
            <p:cNvGrpSpPr/>
            <p:nvPr/>
          </p:nvGrpSpPr>
          <p:grpSpPr>
            <a:xfrm>
              <a:off x="6129375" y="1119420"/>
              <a:ext cx="6012809" cy="3587448"/>
              <a:chOff x="6171171" y="1096674"/>
              <a:chExt cx="6012809" cy="3587448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AE5EF7A-B428-7C5E-EC96-DAFCB214A1FA}"/>
                  </a:ext>
                </a:extLst>
              </p:cNvPr>
              <p:cNvSpPr txBox="1"/>
              <p:nvPr/>
            </p:nvSpPr>
            <p:spPr>
              <a:xfrm>
                <a:off x="6198540" y="1103826"/>
                <a:ext cx="5958077" cy="350865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Verdana"/>
                    <a:cs typeface="Calibri"/>
                  </a:rPr>
                  <a:t>Direct Digital Marketplace: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Links up farmers with buyers 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without intermediaries through transparency in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e-commerce discovery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.</a:t>
                </a:r>
                <a:endParaRPr lang="en-US"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Verdana"/>
                    <a:cs typeface="Calibri"/>
                  </a:rPr>
                  <a:t>AI-powered Fair Pricing: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 Intelligent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real-time market information system </a:t>
                </a:r>
                <a:r>
                  <a:rPr lang="en-US" sz="1600" dirty="0">
                    <a:solidFill>
                      <a:srgbClr val="000000"/>
                    </a:solidFill>
                    <a:latin typeface="Aptos Display"/>
                    <a:ea typeface="Verdana"/>
                    <a:cs typeface="Calibri"/>
                  </a:rPr>
                  <a:t>avoids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 distressed selling and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ensures fair price.</a:t>
                </a:r>
                <a:endParaRPr lang="en-US" sz="1600" b="1">
                  <a:solidFill>
                    <a:srgbClr val="FF0000"/>
                  </a:solidFill>
                  <a:latin typeface="Aptos Display"/>
                  <a:ea typeface="Verdana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Verdana"/>
                    <a:cs typeface="Calibri"/>
                  </a:rPr>
                  <a:t>Verified Buyer Network: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 Creates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 trust and verification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 channels for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 safe transactions 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of valuable, perishable goods.</a:t>
                </a:r>
                <a:endParaRPr lang="en-US" sz="1600">
                  <a:latin typeface="Aptos Display"/>
                  <a:ea typeface="Verdana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Verdana"/>
                    <a:cs typeface="Calibri"/>
                  </a:rPr>
                  <a:t>Integrated Last-Mile Logistics: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 Helps overcome major </a:t>
                </a:r>
                <a:r>
                  <a:rPr lang="en-US" sz="1600" dirty="0" err="1">
                    <a:latin typeface="Aptos Display"/>
                    <a:ea typeface="Verdana"/>
                    <a:cs typeface="Calibri"/>
                  </a:rPr>
                  <a:t>agri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-tech challenges through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route optimization &amp; order tracking.</a:t>
                </a:r>
                <a:endParaRPr lang="en-US" sz="1600" b="1">
                  <a:solidFill>
                    <a:srgbClr val="FF0000"/>
                  </a:solidFill>
                  <a:latin typeface="Aptos Display"/>
                  <a:ea typeface="Verdana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Verdana"/>
                    <a:cs typeface="Calibri"/>
                  </a:rPr>
                  <a:t>Modern Hybrid Mandi Coexistence: 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Disintermediation of trade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Verdana"/>
                    <a:cs typeface="Calibri"/>
                  </a:rPr>
                  <a:t>without excluding traditional mandis </a:t>
                </a:r>
                <a:r>
                  <a:rPr lang="en-US" sz="1600" dirty="0">
                    <a:solidFill>
                      <a:srgbClr val="000000"/>
                    </a:solidFill>
                    <a:latin typeface="Aptos Display"/>
                    <a:ea typeface="Verdana"/>
                    <a:cs typeface="Calibri"/>
                  </a:rPr>
                  <a:t>if</a:t>
                </a:r>
                <a:r>
                  <a:rPr lang="en-US" sz="1600" dirty="0">
                    <a:latin typeface="Aptos Display"/>
                    <a:ea typeface="Verdana"/>
                    <a:cs typeface="Calibri"/>
                  </a:rPr>
                  <a:t> so desired.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1600" b="1" dirty="0">
                    <a:latin typeface="Aptos Display"/>
                    <a:ea typeface="Calibri"/>
                    <a:cs typeface="Calibri"/>
                  </a:rPr>
                  <a:t>Vernacular &amp; Rural-First Accessibility: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Hindi + English suppor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t and a </a:t>
                </a:r>
                <a:r>
                  <a:rPr lang="en-US" sz="1600" b="1" dirty="0">
                    <a:solidFill>
                      <a:srgbClr val="FF0000"/>
                    </a:solidFill>
                    <a:latin typeface="Aptos Display"/>
                    <a:ea typeface="Calibri"/>
                    <a:cs typeface="Calibri"/>
                  </a:rPr>
                  <a:t>mobile-responsive UI </a:t>
                </a:r>
                <a:r>
                  <a:rPr lang="en-US" sz="1600" dirty="0">
                    <a:latin typeface="Aptos Display"/>
                    <a:ea typeface="Calibri"/>
                    <a:cs typeface="Calibri"/>
                  </a:rPr>
                  <a:t>built for low-bandwidth rural networks</a:t>
                </a:r>
                <a:endParaRPr lang="en-US" sz="1600">
                  <a:latin typeface="Aptos Display"/>
                  <a:cs typeface="Calibri"/>
                </a:endParaRPr>
              </a:p>
              <a:p>
                <a:pPr algn="ctr"/>
                <a:endParaRPr lang="en-US" sz="1400" dirty="0">
                  <a:latin typeface="Verdana"/>
                  <a:ea typeface="Verdana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2FEC59F-5EC2-9656-8790-50AEFA844A36}"/>
                  </a:ext>
                </a:extLst>
              </p:cNvPr>
              <p:cNvSpPr/>
              <p:nvPr/>
            </p:nvSpPr>
            <p:spPr>
              <a:xfrm>
                <a:off x="6171171" y="1096674"/>
                <a:ext cx="6012809" cy="3587448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2E69C03-1363-1BF2-738E-DCD0386836B8}"/>
                </a:ext>
              </a:extLst>
            </p:cNvPr>
            <p:cNvSpPr txBox="1"/>
            <p:nvPr/>
          </p:nvSpPr>
          <p:spPr>
            <a:xfrm>
              <a:off x="8455325" y="4498824"/>
              <a:ext cx="3341717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endParaRPr lang="en-US" sz="1400" b="1" u="sng" dirty="0">
                <a:latin typeface="Aptos Narrow"/>
                <a:cs typeface="Calibri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358F37B7-380B-43D4-B79B-9FEA5063B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6" y="4699930"/>
            <a:ext cx="12143618" cy="212690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D5931DD-64EC-1E39-1395-388AE93D59FE}"/>
              </a:ext>
            </a:extLst>
          </p:cNvPr>
          <p:cNvGrpSpPr/>
          <p:nvPr/>
        </p:nvGrpSpPr>
        <p:grpSpPr>
          <a:xfrm>
            <a:off x="8751927" y="4290602"/>
            <a:ext cx="3359591" cy="820890"/>
            <a:chOff x="8437451" y="4109173"/>
            <a:chExt cx="3359591" cy="82089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7D85D75-049F-E388-C6E1-CDA24C7813DD}"/>
                </a:ext>
              </a:extLst>
            </p:cNvPr>
            <p:cNvSpPr/>
            <p:nvPr/>
          </p:nvSpPr>
          <p:spPr>
            <a:xfrm>
              <a:off x="8437451" y="4109173"/>
              <a:ext cx="3219560" cy="820890"/>
            </a:xfrm>
            <a:prstGeom prst="roundRect">
              <a:avLst/>
            </a:prstGeom>
            <a:solidFill>
              <a:srgbClr val="FFD4D9"/>
            </a:solidFill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TextBox 13">
              <a:extLst>
                <a:ext uri="{FF2B5EF4-FFF2-40B4-BE49-F238E27FC236}">
                  <a16:creationId xmlns:a16="http://schemas.microsoft.com/office/drawing/2014/main" id="{9B7BC24F-92AC-C2EF-98C6-EF64709D38E9}"/>
                </a:ext>
              </a:extLst>
            </p:cNvPr>
            <p:cNvSpPr txBox="1"/>
            <p:nvPr/>
          </p:nvSpPr>
          <p:spPr>
            <a:xfrm>
              <a:off x="8630015" y="4262006"/>
              <a:ext cx="2697164" cy="27699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r>
                <a:rPr lang="en-US" sz="1200" b="1" dirty="0">
                  <a:solidFill>
                    <a:srgbClr val="FF0000"/>
                  </a:solidFill>
                  <a:latin typeface="Aptos Narrow"/>
                  <a:ea typeface="ＭＳ Ｐゴシック"/>
                  <a:cs typeface="Calibri"/>
                </a:rPr>
                <a:t>Live Prototype (60% Working)</a:t>
              </a:r>
              <a:endParaRPr lang="en-US" sz="1200" b="1">
                <a:solidFill>
                  <a:srgbClr val="FF0000"/>
                </a:solidFill>
                <a:latin typeface="Aptos Narrow"/>
                <a:cs typeface="Calibri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68F8917-BFF0-D454-AD62-FAC26B118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772230" y="4126594"/>
              <a:ext cx="707965" cy="775685"/>
            </a:xfrm>
            <a:prstGeom prst="rect">
              <a:avLst/>
            </a:prstGeom>
          </p:spPr>
        </p:pic>
        <p:sp>
          <p:nvSpPr>
            <p:cNvPr id="22" name="TextBox 16">
              <a:extLst>
                <a:ext uri="{FF2B5EF4-FFF2-40B4-BE49-F238E27FC236}">
                  <a16:creationId xmlns:a16="http://schemas.microsoft.com/office/drawing/2014/main" id="{E2E69C03-1363-1BF2-738E-DCD0386836B8}"/>
                </a:ext>
              </a:extLst>
            </p:cNvPr>
            <p:cNvSpPr txBox="1"/>
            <p:nvPr/>
          </p:nvSpPr>
          <p:spPr>
            <a:xfrm>
              <a:off x="8455325" y="4457027"/>
              <a:ext cx="3341717" cy="307777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itchFamily="34" charset="0"/>
                  <a:ea typeface="ＭＳ Ｐゴシック" pitchFamily="1" charset="-128"/>
                  <a:cs typeface="+mn-cs"/>
                </a:defRPr>
              </a:lvl9pPr>
            </a:lstStyle>
            <a:p>
              <a:r>
                <a:rPr lang="en-US" sz="1400" b="1" dirty="0">
                  <a:latin typeface="Aptos Narrow"/>
                  <a:ea typeface="ＭＳ Ｐゴシック"/>
                  <a:cs typeface="Calibri"/>
                </a:rPr>
                <a:t>(</a:t>
              </a:r>
              <a:r>
                <a:rPr lang="en-US" sz="1400" b="1" dirty="0" err="1">
                  <a:latin typeface="Aptos Narrow"/>
                  <a:ea typeface="ＭＳ Ｐゴシック"/>
                  <a:cs typeface="Calibri"/>
                </a:rPr>
                <a:t>Kisansetu</a:t>
              </a:r>
              <a:r>
                <a:rPr lang="en-US" sz="1400" b="1" dirty="0">
                  <a:latin typeface="Aptos Narrow"/>
                  <a:ea typeface="ＭＳ Ｐゴシック"/>
                  <a:cs typeface="Calibri"/>
                </a:rPr>
                <a:t>-Agri-Marketplace)</a:t>
              </a:r>
              <a:endParaRPr lang="en-US" sz="1400" b="1">
                <a:latin typeface="Aptos Narrow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509749" y="54733"/>
            <a:ext cx="5490950" cy="744941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rgbClr val="0000FF"/>
                </a:solidFill>
                <a:latin typeface="Times New Roman"/>
                <a:ea typeface="ＭＳ Ｐゴシック"/>
                <a:cs typeface="Times New Roman"/>
              </a:rPr>
              <a:t>TECHNICAL APPROACH</a:t>
            </a:r>
          </a:p>
        </p:txBody>
      </p:sp>
      <p:sp>
        <p:nvSpPr>
          <p:cNvPr id="3" name="object 23">
            <a:extLst>
              <a:ext uri="{FF2B5EF4-FFF2-40B4-BE49-F238E27FC236}">
                <a16:creationId xmlns:a16="http://schemas.microsoft.com/office/drawing/2014/main" id="{5C043A01-D3BA-6D10-FCAC-40D43ACFDE66}"/>
              </a:ext>
            </a:extLst>
          </p:cNvPr>
          <p:cNvSpPr/>
          <p:nvPr/>
        </p:nvSpPr>
        <p:spPr>
          <a:xfrm>
            <a:off x="6168" y="137282"/>
            <a:ext cx="2181768" cy="536061"/>
          </a:xfrm>
          <a:custGeom>
            <a:avLst/>
            <a:gdLst/>
            <a:ahLst/>
            <a:cxnLst/>
            <a:rect l="l" t="t" r="r" b="b"/>
            <a:pathLst>
              <a:path w="1710055" h="487680">
                <a:moveTo>
                  <a:pt x="0" y="243840"/>
                </a:moveTo>
                <a:lnTo>
                  <a:pt x="10794" y="204470"/>
                </a:lnTo>
                <a:lnTo>
                  <a:pt x="43179" y="167004"/>
                </a:lnTo>
                <a:lnTo>
                  <a:pt x="95249" y="131445"/>
                </a:lnTo>
                <a:lnTo>
                  <a:pt x="165100" y="99695"/>
                </a:lnTo>
                <a:lnTo>
                  <a:pt x="205740" y="85090"/>
                </a:lnTo>
                <a:lnTo>
                  <a:pt x="250190" y="71120"/>
                </a:lnTo>
                <a:lnTo>
                  <a:pt x="298450" y="58420"/>
                </a:lnTo>
                <a:lnTo>
                  <a:pt x="349885" y="46990"/>
                </a:lnTo>
                <a:lnTo>
                  <a:pt x="404495" y="36195"/>
                </a:lnTo>
                <a:lnTo>
                  <a:pt x="461644" y="27304"/>
                </a:lnTo>
                <a:lnTo>
                  <a:pt x="521969" y="19050"/>
                </a:lnTo>
                <a:lnTo>
                  <a:pt x="584835" y="12065"/>
                </a:lnTo>
                <a:lnTo>
                  <a:pt x="649605" y="6984"/>
                </a:lnTo>
                <a:lnTo>
                  <a:pt x="716280" y="3175"/>
                </a:lnTo>
                <a:lnTo>
                  <a:pt x="784860" y="634"/>
                </a:lnTo>
                <a:lnTo>
                  <a:pt x="854710" y="0"/>
                </a:lnTo>
                <a:lnTo>
                  <a:pt x="925194" y="634"/>
                </a:lnTo>
                <a:lnTo>
                  <a:pt x="993775" y="3175"/>
                </a:lnTo>
                <a:lnTo>
                  <a:pt x="1060450" y="6984"/>
                </a:lnTo>
                <a:lnTo>
                  <a:pt x="1125220" y="12065"/>
                </a:lnTo>
                <a:lnTo>
                  <a:pt x="1187450" y="19050"/>
                </a:lnTo>
                <a:lnTo>
                  <a:pt x="1247775" y="27304"/>
                </a:lnTo>
                <a:lnTo>
                  <a:pt x="1304925" y="36195"/>
                </a:lnTo>
                <a:lnTo>
                  <a:pt x="1359535" y="46990"/>
                </a:lnTo>
                <a:lnTo>
                  <a:pt x="1410970" y="58420"/>
                </a:lnTo>
                <a:lnTo>
                  <a:pt x="1459230" y="71120"/>
                </a:lnTo>
                <a:lnTo>
                  <a:pt x="1503680" y="85090"/>
                </a:lnTo>
                <a:lnTo>
                  <a:pt x="1544955" y="99695"/>
                </a:lnTo>
                <a:lnTo>
                  <a:pt x="1581785" y="115570"/>
                </a:lnTo>
                <a:lnTo>
                  <a:pt x="1642745" y="148590"/>
                </a:lnTo>
                <a:lnTo>
                  <a:pt x="1684655" y="185420"/>
                </a:lnTo>
                <a:lnTo>
                  <a:pt x="1706880" y="223520"/>
                </a:lnTo>
                <a:lnTo>
                  <a:pt x="1710055" y="243840"/>
                </a:lnTo>
                <a:lnTo>
                  <a:pt x="1706880" y="263525"/>
                </a:lnTo>
                <a:lnTo>
                  <a:pt x="1684655" y="302260"/>
                </a:lnTo>
                <a:lnTo>
                  <a:pt x="1642745" y="338454"/>
                </a:lnTo>
                <a:lnTo>
                  <a:pt x="1581785" y="372110"/>
                </a:lnTo>
                <a:lnTo>
                  <a:pt x="1544955" y="387985"/>
                </a:lnTo>
                <a:lnTo>
                  <a:pt x="1503680" y="402589"/>
                </a:lnTo>
                <a:lnTo>
                  <a:pt x="1459230" y="415925"/>
                </a:lnTo>
                <a:lnTo>
                  <a:pt x="1410970" y="428625"/>
                </a:lnTo>
                <a:lnTo>
                  <a:pt x="1359535" y="440689"/>
                </a:lnTo>
                <a:lnTo>
                  <a:pt x="1304925" y="450850"/>
                </a:lnTo>
                <a:lnTo>
                  <a:pt x="1247775" y="460375"/>
                </a:lnTo>
                <a:lnTo>
                  <a:pt x="1187450" y="468629"/>
                </a:lnTo>
                <a:lnTo>
                  <a:pt x="1125220" y="474979"/>
                </a:lnTo>
                <a:lnTo>
                  <a:pt x="1060450" y="480695"/>
                </a:lnTo>
                <a:lnTo>
                  <a:pt x="993775" y="484504"/>
                </a:lnTo>
                <a:lnTo>
                  <a:pt x="925194" y="487045"/>
                </a:lnTo>
                <a:lnTo>
                  <a:pt x="854710" y="487679"/>
                </a:lnTo>
                <a:lnTo>
                  <a:pt x="784860" y="487045"/>
                </a:lnTo>
                <a:lnTo>
                  <a:pt x="716280" y="484504"/>
                </a:lnTo>
                <a:lnTo>
                  <a:pt x="649605" y="480695"/>
                </a:lnTo>
                <a:lnTo>
                  <a:pt x="584835" y="474979"/>
                </a:lnTo>
                <a:lnTo>
                  <a:pt x="521969" y="468629"/>
                </a:lnTo>
                <a:lnTo>
                  <a:pt x="461644" y="460375"/>
                </a:lnTo>
                <a:lnTo>
                  <a:pt x="404495" y="450850"/>
                </a:lnTo>
                <a:lnTo>
                  <a:pt x="349885" y="440689"/>
                </a:lnTo>
                <a:lnTo>
                  <a:pt x="298450" y="428625"/>
                </a:lnTo>
                <a:lnTo>
                  <a:pt x="250190" y="415925"/>
                </a:lnTo>
                <a:lnTo>
                  <a:pt x="205740" y="402589"/>
                </a:lnTo>
                <a:lnTo>
                  <a:pt x="165100" y="387985"/>
                </a:lnTo>
                <a:lnTo>
                  <a:pt x="128270" y="372110"/>
                </a:lnTo>
                <a:lnTo>
                  <a:pt x="67310" y="338454"/>
                </a:lnTo>
                <a:lnTo>
                  <a:pt x="24765" y="302260"/>
                </a:lnTo>
                <a:lnTo>
                  <a:pt x="2540" y="263525"/>
                </a:lnTo>
                <a:lnTo>
                  <a:pt x="0" y="243840"/>
                </a:lnTo>
                <a:close/>
              </a:path>
            </a:pathLst>
          </a:custGeom>
          <a:ln w="12700">
            <a:solidFill>
              <a:srgbClr val="1C2E52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24">
            <a:extLst>
              <a:ext uri="{FF2B5EF4-FFF2-40B4-BE49-F238E27FC236}">
                <a16:creationId xmlns:a16="http://schemas.microsoft.com/office/drawing/2014/main" id="{A7C37D4E-13D6-DCC4-8FBA-869684A0ABA0}"/>
              </a:ext>
            </a:extLst>
          </p:cNvPr>
          <p:cNvSpPr txBox="1"/>
          <p:nvPr/>
        </p:nvSpPr>
        <p:spPr>
          <a:xfrm>
            <a:off x="253056" y="297421"/>
            <a:ext cx="1939258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00"/>
              </a:spcBef>
            </a:pPr>
            <a:r>
              <a:rPr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SINISTER</a:t>
            </a:r>
            <a:r>
              <a:rPr lang="en-US"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 </a:t>
            </a:r>
            <a:r>
              <a:rPr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SIX</a:t>
            </a:r>
            <a:r>
              <a:rPr lang="en-US"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*</a:t>
            </a:r>
            <a:endParaRPr lang="en-US" sz="1600">
              <a:latin typeface="Verdana"/>
              <a:ea typeface="Verdana"/>
              <a:cs typeface="Times New Roman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2C6993-FD5A-55A4-5E7E-45AE7C6A2FAA}"/>
              </a:ext>
            </a:extLst>
          </p:cNvPr>
          <p:cNvSpPr/>
          <p:nvPr/>
        </p:nvSpPr>
        <p:spPr>
          <a:xfrm>
            <a:off x="42317" y="1137655"/>
            <a:ext cx="6163550" cy="4572217"/>
          </a:xfrm>
          <a:prstGeom prst="rect">
            <a:avLst/>
          </a:prstGeom>
          <a:noFill/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BC683-CB6C-BD33-E2DC-2708BC91F2DD}"/>
              </a:ext>
            </a:extLst>
          </p:cNvPr>
          <p:cNvSpPr txBox="1"/>
          <p:nvPr/>
        </p:nvSpPr>
        <p:spPr>
          <a:xfrm>
            <a:off x="245548" y="680503"/>
            <a:ext cx="26966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>
                <a:latin typeface="Calibri"/>
                <a:ea typeface="Calibri"/>
                <a:cs typeface="Calibri"/>
              </a:rPr>
              <a:t>Technology Stack</a:t>
            </a:r>
            <a:endParaRPr lang="en-US" sz="2400" b="1"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253AE-4492-13F3-E81E-AC52253295C5}"/>
              </a:ext>
            </a:extLst>
          </p:cNvPr>
          <p:cNvSpPr txBox="1"/>
          <p:nvPr/>
        </p:nvSpPr>
        <p:spPr>
          <a:xfrm>
            <a:off x="-27757" y="1169044"/>
            <a:ext cx="6314842" cy="5083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98450" indent="-285750">
              <a:lnSpc>
                <a:spcPts val="1614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1" dirty="0">
                <a:latin typeface="Aptos Narrow"/>
                <a:ea typeface="Verdana"/>
                <a:cs typeface="Calibri"/>
              </a:rPr>
              <a:t>Frontend : 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React 19, Vite 6, Tailwind CSS 4  </a:t>
            </a:r>
            <a:r>
              <a:rPr lang="en-US" sz="1600" dirty="0">
                <a:latin typeface="Aptos Narrow"/>
                <a:ea typeface="Calibri"/>
                <a:cs typeface="Calibri"/>
              </a:rPr>
              <a:t>mobile-first interface for Farmers and Buyers, in Hindi and English.</a:t>
            </a:r>
            <a:endParaRPr lang="en-US" sz="1600" dirty="0">
              <a:latin typeface="Aptos Narrow"/>
              <a:cs typeface="Calibri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Aptos Narrow"/>
                <a:ea typeface="Calibri"/>
                <a:cs typeface="Calibri"/>
              </a:rPr>
              <a:t>Backend:</a:t>
            </a:r>
            <a:r>
              <a:rPr lang="en-US" sz="1600" dirty="0">
                <a:latin typeface="Aptos Narrow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Python + 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FastAPI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(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Uvicorn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Pydantic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v2) </a:t>
            </a:r>
            <a:r>
              <a:rPr lang="en-US" sz="1600" dirty="0">
                <a:latin typeface="Aptos Narrow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REST APIs</a:t>
            </a:r>
            <a:r>
              <a:rPr lang="en-US" sz="1600" dirty="0">
                <a:latin typeface="Aptos Narrow"/>
                <a:ea typeface="Calibri"/>
                <a:cs typeface="Calibri"/>
              </a:rPr>
              <a:t> for auth, listings, photo uploads, pricing, orders, payments, RFQs, logistics and analytics.</a:t>
            </a:r>
            <a:endParaRPr lang="en-US" sz="1600" b="1" dirty="0">
              <a:solidFill>
                <a:srgbClr val="FF0000"/>
              </a:solidFill>
              <a:latin typeface="Aptos Narrow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Database:</a:t>
            </a:r>
            <a:r>
              <a:rPr lang="en-US" sz="1600" dirty="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PostgreSQL / 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SQLAlchemy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2.0 + SQLite (default)  </a:t>
            </a:r>
            <a:r>
              <a:rPr lang="en-US" sz="1600" dirty="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Store users, crops, orders.</a:t>
            </a:r>
            <a:endParaRPr lang="en-US" sz="1600" dirty="0">
              <a:latin typeface="Aptos Narrow"/>
              <a:ea typeface="Calibri"/>
              <a:cs typeface="Calibri"/>
            </a:endParaRPr>
          </a:p>
          <a:p>
            <a:pPr marL="298450" indent="-285750">
              <a:lnSpc>
                <a:spcPts val="1645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1" dirty="0">
                <a:latin typeface="Aptos Narrow"/>
                <a:ea typeface="Calibri"/>
                <a:cs typeface="Calibri"/>
              </a:rPr>
              <a:t>AI / Machine Learning:</a:t>
            </a:r>
            <a:r>
              <a:rPr lang="en-US" sz="1600" dirty="0">
                <a:latin typeface="Aptos Narrow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Python + Scikit-learn ( NumPy, Pandas).</a:t>
            </a:r>
            <a:r>
              <a:rPr lang="en-US" sz="1600" b="1" dirty="0">
                <a:latin typeface="Aptos Narrow"/>
                <a:ea typeface="Calibri"/>
                <a:cs typeface="Calibri"/>
              </a:rPr>
              <a:t> </a:t>
            </a:r>
            <a:r>
              <a:rPr lang="en-US" sz="1600" dirty="0">
                <a:latin typeface="Aptos Narrow"/>
                <a:ea typeface="Calibri"/>
                <a:cs typeface="Calibri"/>
              </a:rPr>
              <a:t>Fair price band [Minimum, Target, Maximum] based on training on APMC mandi trading history.</a:t>
            </a:r>
            <a:endParaRPr lang="en-US" sz="1600" b="1" dirty="0">
              <a:latin typeface="Aptos Narrow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Aptos Narrow"/>
                <a:ea typeface="Calibri"/>
                <a:cs typeface="Calibri"/>
              </a:rPr>
              <a:t>Logistics: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Haversine formula + TSP </a:t>
            </a:r>
            <a:r>
              <a:rPr lang="en-US" sz="1600" dirty="0">
                <a:latin typeface="Aptos Narrow"/>
                <a:ea typeface="Calibri"/>
                <a:cs typeface="Calibri"/>
              </a:rPr>
              <a:t> Multi-farm batch pickup routing and an analysis.</a:t>
            </a:r>
            <a:endParaRPr lang="en-US" sz="1600" b="1" dirty="0">
              <a:solidFill>
                <a:srgbClr val="FF0000"/>
              </a:solidFill>
              <a:latin typeface="Aptos Narrow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latin typeface="Aptos Narrow"/>
                <a:ea typeface="Calibri"/>
                <a:cs typeface="Calibri"/>
              </a:rPr>
              <a:t>Authentication &amp; Security:</a:t>
            </a:r>
            <a:r>
              <a:rPr lang="en-US" sz="1600" dirty="0">
                <a:latin typeface="Aptos Narrow"/>
                <a:ea typeface="Calibri"/>
                <a:cs typeface="Calibri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JWT + 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bcrypt</a:t>
            </a:r>
            <a:r>
              <a:rPr lang="en-US" sz="1600" dirty="0">
                <a:latin typeface="Aptos Narrow"/>
                <a:ea typeface="Calibri"/>
                <a:cs typeface="Calibri"/>
              </a:rPr>
              <a:t>, role-based access Phone/password login with simulated OTP</a:t>
            </a:r>
            <a:endParaRPr lang="en-US" sz="1600" dirty="0">
              <a:latin typeface="Aptos Narrow"/>
              <a:cs typeface="Calibri"/>
            </a:endParaRPr>
          </a:p>
          <a:p>
            <a:pPr marL="285750" indent="-285750">
              <a:spcBef>
                <a:spcPts val="65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1" dirty="0">
                <a:latin typeface="Aptos Narrow"/>
                <a:ea typeface="Calibri"/>
                <a:cs typeface="Calibri"/>
              </a:rPr>
              <a:t>Deployment &amp; Services: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Vercel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 dirty="0">
                <a:latin typeface="Aptos Narrow"/>
                <a:ea typeface="Calibri"/>
                <a:cs typeface="Calibri"/>
              </a:rPr>
              <a:t>(frontend + edge CDN) 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+ Render </a:t>
            </a:r>
            <a:r>
              <a:rPr lang="en-US" sz="1600" dirty="0">
                <a:latin typeface="Aptos Narrow"/>
                <a:ea typeface="Calibri"/>
                <a:cs typeface="Calibri"/>
              </a:rPr>
              <a:t>(</a:t>
            </a:r>
            <a:r>
              <a:rPr lang="en-US" sz="1600" dirty="0" err="1">
                <a:latin typeface="Aptos Narrow"/>
                <a:ea typeface="Calibri"/>
                <a:cs typeface="Calibri"/>
              </a:rPr>
              <a:t>FastAPI</a:t>
            </a:r>
            <a:r>
              <a:rPr lang="en-US" sz="1600" dirty="0">
                <a:latin typeface="Aptos Narrow"/>
                <a:ea typeface="Calibri"/>
                <a:cs typeface="Calibri"/>
              </a:rPr>
              <a:t> backend)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+ Neon</a:t>
            </a:r>
            <a:r>
              <a:rPr lang="en-US" sz="1600" dirty="0">
                <a:latin typeface="Aptos Narrow"/>
                <a:ea typeface="Calibri"/>
                <a:cs typeface="Calibri"/>
              </a:rPr>
              <a:t> (PostgreSQL)</a:t>
            </a:r>
          </a:p>
          <a:p>
            <a:pPr marL="285750" indent="-285750">
              <a:spcBef>
                <a:spcPts val="65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b="1" dirty="0">
                <a:latin typeface="Aptos Narrow"/>
                <a:ea typeface="Calibri"/>
                <a:cs typeface="Calibri"/>
              </a:rPr>
              <a:t>Supporting Services: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Cloudinary</a:t>
            </a:r>
            <a:r>
              <a:rPr lang="en-US" sz="1600" dirty="0">
                <a:latin typeface="Aptos Narrow"/>
                <a:ea typeface="Calibri"/>
                <a:cs typeface="Calibri"/>
              </a:rPr>
              <a:t> (image storage and CDN),  </a:t>
            </a:r>
            <a:r>
              <a:rPr lang="en-US" sz="1600" b="1" dirty="0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UptimeRobot</a:t>
            </a:r>
            <a:r>
              <a:rPr lang="en-US" sz="1600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 dirty="0">
                <a:latin typeface="Aptos Narrow"/>
                <a:ea typeface="Calibri"/>
                <a:cs typeface="Calibri"/>
              </a:rPr>
              <a:t>(keep-alive pings ), </a:t>
            </a:r>
            <a:r>
              <a:rPr lang="en-US" sz="1600" b="1" dirty="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GitHub Actions</a:t>
            </a:r>
            <a:r>
              <a:rPr lang="en-US" sz="1600" dirty="0">
                <a:latin typeface="Aptos Narrow"/>
                <a:ea typeface="Calibri"/>
                <a:cs typeface="Calibri"/>
              </a:rPr>
              <a:t> (weekly encrypted database backups)</a:t>
            </a:r>
            <a:br>
              <a:rPr lang="en-US" sz="1600" dirty="0">
                <a:latin typeface="Aptos Narrow"/>
                <a:ea typeface="Calibri"/>
                <a:cs typeface="Calibri"/>
              </a:rPr>
            </a:br>
            <a:endParaRPr lang="en-US" sz="1600">
              <a:latin typeface="Aptos Narrow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latin typeface="Aptos Narrow"/>
              <a:cs typeface="Calibri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2A9041-086F-89D9-321E-AE2B11A49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1" y="5724181"/>
            <a:ext cx="8619393" cy="10373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F60FAB-DA66-01BC-A53E-F94788ABA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524" y="1328540"/>
            <a:ext cx="5878288" cy="3995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BDD643-9CE4-561F-DB22-44D4643D3FE0}"/>
              </a:ext>
            </a:extLst>
          </p:cNvPr>
          <p:cNvSpPr txBox="1"/>
          <p:nvPr/>
        </p:nvSpPr>
        <p:spPr>
          <a:xfrm>
            <a:off x="7513534" y="841151"/>
            <a:ext cx="33452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err="1">
                <a:solidFill>
                  <a:srgbClr val="FF0000"/>
                </a:solidFill>
                <a:latin typeface="Aptos Display"/>
                <a:ea typeface="ＭＳ Ｐゴシック"/>
                <a:cs typeface="Calibri"/>
              </a:rPr>
              <a:t>Kisansetu</a:t>
            </a:r>
            <a:r>
              <a:rPr lang="en-US" sz="2400" b="1">
                <a:solidFill>
                  <a:srgbClr val="FF0000"/>
                </a:solidFill>
                <a:latin typeface="Aptos Display"/>
                <a:ea typeface="ＭＳ Ｐゴシック"/>
                <a:cs typeface="Calibri"/>
              </a:rPr>
              <a:t>-Workflow</a:t>
            </a:r>
            <a:endParaRPr lang="en-US" sz="2400" b="1">
              <a:solidFill>
                <a:srgbClr val="FF0000"/>
              </a:solidFill>
              <a:latin typeface="Aptos Display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356BF2-BB70-1EA8-5F1D-654DA31994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657" y="74071"/>
            <a:ext cx="2056327" cy="9051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DF5E6E0-55F7-A59A-FD35-845C105323CA}"/>
              </a:ext>
            </a:extLst>
          </p:cNvPr>
          <p:cNvGrpSpPr/>
          <p:nvPr/>
        </p:nvGrpSpPr>
        <p:grpSpPr>
          <a:xfrm>
            <a:off x="8664755" y="5624604"/>
            <a:ext cx="3345541" cy="1144210"/>
            <a:chOff x="9020070" y="5503652"/>
            <a:chExt cx="2760416" cy="135319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3896FFE-E375-8146-9208-4364823536F1}"/>
                </a:ext>
              </a:extLst>
            </p:cNvPr>
            <p:cNvSpPr/>
            <p:nvPr/>
          </p:nvSpPr>
          <p:spPr>
            <a:xfrm>
              <a:off x="9020070" y="5503652"/>
              <a:ext cx="2760416" cy="1353198"/>
            </a:xfrm>
            <a:prstGeom prst="roundRect">
              <a:avLst/>
            </a:prstGeom>
            <a:solidFill>
              <a:srgbClr val="FFD4D9"/>
            </a:solidFill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9D0C96-6043-E44D-AC75-1B17D8C631D6}"/>
                </a:ext>
              </a:extLst>
            </p:cNvPr>
            <p:cNvSpPr txBox="1"/>
            <p:nvPr/>
          </p:nvSpPr>
          <p:spPr>
            <a:xfrm>
              <a:off x="9143954" y="5796469"/>
              <a:ext cx="1848151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Github</a:t>
              </a:r>
              <a:r>
                <a:rPr lang="en-US" b="1" dirty="0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 Repo</a:t>
              </a:r>
              <a:endParaRPr lang="en-US" sz="20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1CF427B-644E-EB79-E1EB-4E4AF5DAB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552111" y="5560242"/>
              <a:ext cx="1121226" cy="1230457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359D48-E5A0-1EEC-8AA4-BCF1758650EF}"/>
                </a:ext>
              </a:extLst>
            </p:cNvPr>
            <p:cNvSpPr txBox="1"/>
            <p:nvPr/>
          </p:nvSpPr>
          <p:spPr>
            <a:xfrm>
              <a:off x="9052498" y="6127154"/>
              <a:ext cx="1684860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latin typeface="Aptos Display"/>
                  <a:ea typeface="Calibri"/>
                  <a:cs typeface="Calibri"/>
                </a:rPr>
                <a:t>(Source Code) </a:t>
              </a:r>
              <a:endParaRPr lang="en-US" b="1">
                <a:latin typeface="Aptos Display"/>
              </a:endParaRPr>
            </a:p>
          </p:txBody>
        </p:sp>
      </p:grp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EB4DE594-55F5-80E1-228E-D759148EC687}"/>
              </a:ext>
            </a:extLst>
          </p:cNvPr>
          <p:cNvSpPr/>
          <p:nvPr/>
        </p:nvSpPr>
        <p:spPr>
          <a:xfrm>
            <a:off x="10466865" y="4922780"/>
            <a:ext cx="1684524" cy="513720"/>
          </a:xfrm>
          <a:prstGeom prst="wedgeRoundRectCallou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FA670A-A54B-543F-752C-F2CD8A803F59}"/>
              </a:ext>
            </a:extLst>
          </p:cNvPr>
          <p:cNvSpPr txBox="1"/>
          <p:nvPr/>
        </p:nvSpPr>
        <p:spPr>
          <a:xfrm>
            <a:off x="10640273" y="4954724"/>
            <a:ext cx="13310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FF0000"/>
                </a:solidFill>
                <a:latin typeface="Aptos Display"/>
                <a:ea typeface="ＭＳ Ｐゴシック"/>
                <a:cs typeface="Calibri"/>
              </a:rPr>
              <a:t>Scan 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064212" y="133802"/>
            <a:ext cx="6022959" cy="413136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rgbClr val="0000FF"/>
                </a:solidFill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 lang="en-US" sz="2800">
              <a:solidFill>
                <a:srgbClr val="0000FF"/>
              </a:solidFill>
              <a:latin typeface="Times New Roman"/>
              <a:ea typeface="ＭＳ Ｐゴシック"/>
              <a:cs typeface="Times New Roman"/>
            </a:endParaRPr>
          </a:p>
        </p:txBody>
      </p:sp>
      <p:sp>
        <p:nvSpPr>
          <p:cNvPr id="3" name="object 23">
            <a:extLst>
              <a:ext uri="{FF2B5EF4-FFF2-40B4-BE49-F238E27FC236}">
                <a16:creationId xmlns:a16="http://schemas.microsoft.com/office/drawing/2014/main" id="{90986715-FA1C-E5DD-DD4F-437A36B98513}"/>
              </a:ext>
            </a:extLst>
          </p:cNvPr>
          <p:cNvSpPr/>
          <p:nvPr/>
        </p:nvSpPr>
        <p:spPr>
          <a:xfrm>
            <a:off x="6168" y="137282"/>
            <a:ext cx="2181768" cy="536061"/>
          </a:xfrm>
          <a:custGeom>
            <a:avLst/>
            <a:gdLst/>
            <a:ahLst/>
            <a:cxnLst/>
            <a:rect l="l" t="t" r="r" b="b"/>
            <a:pathLst>
              <a:path w="1710055" h="487680">
                <a:moveTo>
                  <a:pt x="0" y="243840"/>
                </a:moveTo>
                <a:lnTo>
                  <a:pt x="10794" y="204470"/>
                </a:lnTo>
                <a:lnTo>
                  <a:pt x="43179" y="167004"/>
                </a:lnTo>
                <a:lnTo>
                  <a:pt x="95249" y="131445"/>
                </a:lnTo>
                <a:lnTo>
                  <a:pt x="165100" y="99695"/>
                </a:lnTo>
                <a:lnTo>
                  <a:pt x="205740" y="85090"/>
                </a:lnTo>
                <a:lnTo>
                  <a:pt x="250190" y="71120"/>
                </a:lnTo>
                <a:lnTo>
                  <a:pt x="298450" y="58420"/>
                </a:lnTo>
                <a:lnTo>
                  <a:pt x="349885" y="46990"/>
                </a:lnTo>
                <a:lnTo>
                  <a:pt x="404495" y="36195"/>
                </a:lnTo>
                <a:lnTo>
                  <a:pt x="461644" y="27304"/>
                </a:lnTo>
                <a:lnTo>
                  <a:pt x="521969" y="19050"/>
                </a:lnTo>
                <a:lnTo>
                  <a:pt x="584835" y="12065"/>
                </a:lnTo>
                <a:lnTo>
                  <a:pt x="649605" y="6984"/>
                </a:lnTo>
                <a:lnTo>
                  <a:pt x="716280" y="3175"/>
                </a:lnTo>
                <a:lnTo>
                  <a:pt x="784860" y="634"/>
                </a:lnTo>
                <a:lnTo>
                  <a:pt x="854710" y="0"/>
                </a:lnTo>
                <a:lnTo>
                  <a:pt x="925194" y="634"/>
                </a:lnTo>
                <a:lnTo>
                  <a:pt x="993775" y="3175"/>
                </a:lnTo>
                <a:lnTo>
                  <a:pt x="1060450" y="6984"/>
                </a:lnTo>
                <a:lnTo>
                  <a:pt x="1125220" y="12065"/>
                </a:lnTo>
                <a:lnTo>
                  <a:pt x="1187450" y="19050"/>
                </a:lnTo>
                <a:lnTo>
                  <a:pt x="1247775" y="27304"/>
                </a:lnTo>
                <a:lnTo>
                  <a:pt x="1304925" y="36195"/>
                </a:lnTo>
                <a:lnTo>
                  <a:pt x="1359535" y="46990"/>
                </a:lnTo>
                <a:lnTo>
                  <a:pt x="1410970" y="58420"/>
                </a:lnTo>
                <a:lnTo>
                  <a:pt x="1459230" y="71120"/>
                </a:lnTo>
                <a:lnTo>
                  <a:pt x="1503680" y="85090"/>
                </a:lnTo>
                <a:lnTo>
                  <a:pt x="1544955" y="99695"/>
                </a:lnTo>
                <a:lnTo>
                  <a:pt x="1581785" y="115570"/>
                </a:lnTo>
                <a:lnTo>
                  <a:pt x="1642745" y="148590"/>
                </a:lnTo>
                <a:lnTo>
                  <a:pt x="1684655" y="185420"/>
                </a:lnTo>
                <a:lnTo>
                  <a:pt x="1706880" y="223520"/>
                </a:lnTo>
                <a:lnTo>
                  <a:pt x="1710055" y="243840"/>
                </a:lnTo>
                <a:lnTo>
                  <a:pt x="1706880" y="263525"/>
                </a:lnTo>
                <a:lnTo>
                  <a:pt x="1684655" y="302260"/>
                </a:lnTo>
                <a:lnTo>
                  <a:pt x="1642745" y="338454"/>
                </a:lnTo>
                <a:lnTo>
                  <a:pt x="1581785" y="372110"/>
                </a:lnTo>
                <a:lnTo>
                  <a:pt x="1544955" y="387985"/>
                </a:lnTo>
                <a:lnTo>
                  <a:pt x="1503680" y="402589"/>
                </a:lnTo>
                <a:lnTo>
                  <a:pt x="1459230" y="415925"/>
                </a:lnTo>
                <a:lnTo>
                  <a:pt x="1410970" y="428625"/>
                </a:lnTo>
                <a:lnTo>
                  <a:pt x="1359535" y="440689"/>
                </a:lnTo>
                <a:lnTo>
                  <a:pt x="1304925" y="450850"/>
                </a:lnTo>
                <a:lnTo>
                  <a:pt x="1247775" y="460375"/>
                </a:lnTo>
                <a:lnTo>
                  <a:pt x="1187450" y="468629"/>
                </a:lnTo>
                <a:lnTo>
                  <a:pt x="1125220" y="474979"/>
                </a:lnTo>
                <a:lnTo>
                  <a:pt x="1060450" y="480695"/>
                </a:lnTo>
                <a:lnTo>
                  <a:pt x="993775" y="484504"/>
                </a:lnTo>
                <a:lnTo>
                  <a:pt x="925194" y="487045"/>
                </a:lnTo>
                <a:lnTo>
                  <a:pt x="854710" y="487679"/>
                </a:lnTo>
                <a:lnTo>
                  <a:pt x="784860" y="487045"/>
                </a:lnTo>
                <a:lnTo>
                  <a:pt x="716280" y="484504"/>
                </a:lnTo>
                <a:lnTo>
                  <a:pt x="649605" y="480695"/>
                </a:lnTo>
                <a:lnTo>
                  <a:pt x="584835" y="474979"/>
                </a:lnTo>
                <a:lnTo>
                  <a:pt x="521969" y="468629"/>
                </a:lnTo>
                <a:lnTo>
                  <a:pt x="461644" y="460375"/>
                </a:lnTo>
                <a:lnTo>
                  <a:pt x="404495" y="450850"/>
                </a:lnTo>
                <a:lnTo>
                  <a:pt x="349885" y="440689"/>
                </a:lnTo>
                <a:lnTo>
                  <a:pt x="298450" y="428625"/>
                </a:lnTo>
                <a:lnTo>
                  <a:pt x="250190" y="415925"/>
                </a:lnTo>
                <a:lnTo>
                  <a:pt x="205740" y="402589"/>
                </a:lnTo>
                <a:lnTo>
                  <a:pt x="165100" y="387985"/>
                </a:lnTo>
                <a:lnTo>
                  <a:pt x="128270" y="372110"/>
                </a:lnTo>
                <a:lnTo>
                  <a:pt x="67310" y="338454"/>
                </a:lnTo>
                <a:lnTo>
                  <a:pt x="24765" y="302260"/>
                </a:lnTo>
                <a:lnTo>
                  <a:pt x="2540" y="263525"/>
                </a:lnTo>
                <a:lnTo>
                  <a:pt x="0" y="243840"/>
                </a:lnTo>
                <a:close/>
              </a:path>
            </a:pathLst>
          </a:custGeom>
          <a:ln w="12700">
            <a:solidFill>
              <a:srgbClr val="1C2E52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24">
            <a:extLst>
              <a:ext uri="{FF2B5EF4-FFF2-40B4-BE49-F238E27FC236}">
                <a16:creationId xmlns:a16="http://schemas.microsoft.com/office/drawing/2014/main" id="{9DAD5024-1968-69A4-0987-A37C6C3FD240}"/>
              </a:ext>
            </a:extLst>
          </p:cNvPr>
          <p:cNvSpPr txBox="1"/>
          <p:nvPr/>
        </p:nvSpPr>
        <p:spPr>
          <a:xfrm>
            <a:off x="253056" y="297421"/>
            <a:ext cx="1939258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00"/>
              </a:spcBef>
            </a:pPr>
            <a:r>
              <a:rPr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SINISTER</a:t>
            </a:r>
            <a:r>
              <a:rPr lang="en-US"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 </a:t>
            </a:r>
            <a:r>
              <a:rPr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SIX</a:t>
            </a:r>
            <a:r>
              <a:rPr lang="en-US"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*</a:t>
            </a:r>
            <a:endParaRPr lang="en-US" sz="1600">
              <a:latin typeface="Verdana"/>
              <a:ea typeface="Verdana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88F2E9-9A52-2417-D2EE-932CCB418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847" y="-30634"/>
            <a:ext cx="2056327" cy="905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28ADF4-A298-8528-0D76-EAD2FDD4C9EF}"/>
              </a:ext>
            </a:extLst>
          </p:cNvPr>
          <p:cNvSpPr txBox="1"/>
          <p:nvPr/>
        </p:nvSpPr>
        <p:spPr>
          <a:xfrm>
            <a:off x="121063" y="881769"/>
            <a:ext cx="366954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ptos Display"/>
                <a:ea typeface="Calibri"/>
                <a:cs typeface="Calibri"/>
              </a:rPr>
              <a:t>Feasibility of the Idea</a:t>
            </a:r>
            <a:endParaRPr lang="en-US" sz="2000" b="1">
              <a:latin typeface="Aptos Display"/>
              <a:ea typeface="ＭＳ Ｐゴシック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895F59-5E06-19E1-C9FF-8D9B5C66A864}"/>
              </a:ext>
            </a:extLst>
          </p:cNvPr>
          <p:cNvSpPr txBox="1"/>
          <p:nvPr/>
        </p:nvSpPr>
        <p:spPr>
          <a:xfrm>
            <a:off x="125247" y="1409776"/>
            <a:ext cx="4402818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Built on</a:t>
            </a:r>
            <a:r>
              <a:rPr lang="en-US" sz="1600">
                <a:latin typeface="Aptos Narrow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mature, widely used technologies </a:t>
            </a:r>
            <a:r>
              <a:rPr lang="en-US" sz="1600" b="1">
                <a:latin typeface="Aptos Narrow"/>
                <a:ea typeface="Calibri"/>
                <a:cs typeface="Calibri"/>
              </a:rPr>
              <a:t>(</a:t>
            </a:r>
            <a:r>
              <a:rPr lang="en-US" sz="1600">
                <a:latin typeface="Aptos Narrow"/>
                <a:ea typeface="Calibri"/>
                <a:cs typeface="Calibri"/>
              </a:rPr>
              <a:t>React 19, </a:t>
            </a:r>
            <a:r>
              <a:rPr lang="en-US" sz="1600" err="1">
                <a:latin typeface="Aptos Narrow"/>
                <a:ea typeface="Calibri"/>
                <a:cs typeface="Calibri"/>
              </a:rPr>
              <a:t>FastAPI</a:t>
            </a:r>
            <a:r>
              <a:rPr lang="en-US" sz="1600">
                <a:latin typeface="Aptos Narrow"/>
                <a:ea typeface="Calibri"/>
                <a:cs typeface="Calibri"/>
              </a:rPr>
              <a:t>, </a:t>
            </a:r>
            <a:r>
              <a:rPr lang="en-US" sz="1600" err="1">
                <a:latin typeface="Aptos Narrow"/>
                <a:ea typeface="Calibri"/>
                <a:cs typeface="Calibri"/>
              </a:rPr>
              <a:t>PostgreSQL,scikit</a:t>
            </a:r>
            <a:r>
              <a:rPr lang="en-US" sz="1600">
                <a:latin typeface="Aptos Narrow"/>
                <a:ea typeface="Calibri"/>
                <a:cs typeface="Calibri"/>
              </a:rPr>
              <a:t>-learn</a:t>
            </a:r>
            <a:r>
              <a:rPr lang="en-US" sz="1600" b="1">
                <a:latin typeface="Aptos Narrow"/>
                <a:ea typeface="Calibri"/>
                <a:cs typeface="Calibri"/>
              </a:rPr>
              <a:t>)</a:t>
            </a:r>
            <a:endParaRPr lang="en-US" sz="1600">
              <a:latin typeface="Aptos Narrow"/>
              <a:cs typeface="Calibri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Core modules implemented</a:t>
            </a:r>
            <a:r>
              <a:rPr lang="en-US" sz="1600">
                <a:latin typeface="Aptos Narrow"/>
                <a:ea typeface="Calibri"/>
                <a:cs typeface="Calibri"/>
              </a:rPr>
              <a:t>: </a:t>
            </a:r>
            <a:r>
              <a:rPr lang="en-US" sz="16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Farmer/Buyer workspaces</a:t>
            </a:r>
            <a:r>
              <a:rPr lang="en-US" sz="1600">
                <a:latin typeface="Aptos Narrow"/>
                <a:ea typeface="Calibri"/>
                <a:cs typeface="Calibri"/>
              </a:rPr>
              <a:t> (RBAC), AI fair-price engine, TSP route optimization, </a:t>
            </a:r>
            <a:r>
              <a:rPr lang="en-US" sz="16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Hindi/English UI</a:t>
            </a:r>
            <a:endParaRPr lang="en-US" sz="1600">
              <a:solidFill>
                <a:srgbClr val="000000"/>
              </a:solidFill>
              <a:latin typeface="Aptos Narrow"/>
              <a:cs typeface="Calibri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Developed security framework</a:t>
            </a:r>
            <a:r>
              <a:rPr lang="en-US" sz="1600">
                <a:latin typeface="Aptos Narrow"/>
                <a:ea typeface="Calibri"/>
                <a:cs typeface="Calibri"/>
              </a:rPr>
              <a:t>: JWT/</a:t>
            </a:r>
            <a:r>
              <a:rPr lang="en-US" sz="1600" err="1">
                <a:latin typeface="Aptos Narrow"/>
                <a:ea typeface="Calibri"/>
                <a:cs typeface="Calibri"/>
              </a:rPr>
              <a:t>bcrypt</a:t>
            </a:r>
            <a:r>
              <a:rPr lang="en-US" sz="1600">
                <a:latin typeface="Aptos Narrow"/>
                <a:ea typeface="Calibri"/>
                <a:cs typeface="Calibri"/>
              </a:rPr>
              <a:t> authentication, rate limiting, validation</a:t>
            </a:r>
            <a:endParaRPr lang="en-US" sz="1600">
              <a:latin typeface="Aptos Narrow"/>
              <a:cs typeface="Calibri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Deployed on </a:t>
            </a:r>
            <a:r>
              <a:rPr lang="en-US" sz="1600" b="1" err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Vercel</a:t>
            </a: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+ Render + Neon </a:t>
            </a:r>
            <a:r>
              <a:rPr lang="en-US" sz="1600">
                <a:latin typeface="Aptos Narrow"/>
                <a:ea typeface="Calibri"/>
                <a:cs typeface="Calibri"/>
              </a:rPr>
              <a:t>PostgreSQL, using </a:t>
            </a:r>
            <a:r>
              <a:rPr lang="en-US" sz="1600" err="1">
                <a:latin typeface="Aptos Narrow"/>
                <a:ea typeface="Calibri"/>
                <a:cs typeface="Calibri"/>
              </a:rPr>
              <a:t>Cloudinary</a:t>
            </a:r>
            <a:r>
              <a:rPr lang="en-US" sz="1600">
                <a:latin typeface="Aptos Narrow"/>
                <a:ea typeface="Calibri"/>
                <a:cs typeface="Calibri"/>
              </a:rPr>
              <a:t> for image storage</a:t>
            </a:r>
          </a:p>
          <a:p>
            <a:pPr marL="285750" indent="-285750">
              <a:buFont typeface="Arial,Sans-Serif"/>
              <a:buChar char="•"/>
            </a:pP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Mobile-first</a:t>
            </a:r>
            <a:r>
              <a:rPr lang="en-US" sz="1600">
                <a:latin typeface="Aptos Narrow"/>
                <a:ea typeface="Calibri"/>
                <a:cs typeface="Calibri"/>
              </a:rPr>
              <a:t>, bilingual UI designed for low-bandwidth rural networks</a:t>
            </a:r>
          </a:p>
          <a:p>
            <a:pPr marL="285750" indent="-285750">
              <a:buFont typeface="Arial"/>
              <a:buChar char="•"/>
            </a:pPr>
            <a:endParaRPr lang="en-US" sz="1600">
              <a:latin typeface="Aptos Display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600">
              <a:latin typeface="Aptos Display"/>
              <a:ea typeface="Calibri"/>
              <a:cs typeface="Calibri"/>
            </a:endParaRPr>
          </a:p>
          <a:p>
            <a:endParaRPr lang="en-US" sz="1600">
              <a:latin typeface="Aptos Display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A870F9-E01A-43DE-C574-1454FC9A1F3E}"/>
              </a:ext>
            </a:extLst>
          </p:cNvPr>
          <p:cNvSpPr txBox="1"/>
          <p:nvPr/>
        </p:nvSpPr>
        <p:spPr>
          <a:xfrm>
            <a:off x="107378" y="4652213"/>
            <a:ext cx="4398218" cy="20741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latin typeface="Aptos Narrow"/>
                <a:ea typeface="Calibri"/>
                <a:cs typeface="Calibri"/>
              </a:rPr>
              <a:t> Farmer price realization:</a:t>
            </a:r>
            <a:r>
              <a:rPr lang="en-US" sz="160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61.8%</a:t>
            </a:r>
            <a:r>
              <a:rPr lang="en-US" sz="1600">
                <a:latin typeface="Aptos Narrow"/>
                <a:ea typeface="Calibri"/>
                <a:cs typeface="Calibri"/>
              </a:rPr>
              <a:t> vs</a:t>
            </a:r>
            <a:r>
              <a:rPr lang="en-US" sz="1600" b="1">
                <a:latin typeface="Aptos Narrow"/>
                <a:ea typeface="Calibri"/>
                <a:cs typeface="Calibri"/>
              </a:rPr>
              <a:t>. </a:t>
            </a: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32.4%</a:t>
            </a:r>
            <a:r>
              <a:rPr lang="en-US" sz="1600" b="1">
                <a:latin typeface="Aptos Narrow"/>
                <a:ea typeface="Calibri"/>
                <a:cs typeface="Calibri"/>
              </a:rPr>
              <a:t> </a:t>
            </a:r>
            <a:r>
              <a:rPr lang="en-US" sz="1600">
                <a:latin typeface="Aptos Narrow"/>
                <a:ea typeface="Calibri"/>
                <a:cs typeface="Calibri"/>
              </a:rPr>
              <a:t>mandi baseline </a:t>
            </a:r>
            <a:endParaRPr lang="en-US" sz="1600">
              <a:latin typeface="Aptos Narrow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19.5%</a:t>
            </a:r>
            <a:r>
              <a:rPr lang="en-US" sz="1600">
                <a:latin typeface="Aptos Narrow"/>
                <a:ea typeface="Calibri"/>
                <a:cs typeface="Calibri"/>
              </a:rPr>
              <a:t> consumer savings,</a:t>
            </a:r>
            <a:r>
              <a:rPr lang="en-US" sz="160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4 of 5</a:t>
            </a:r>
            <a:r>
              <a:rPr lang="en-US" sz="1600">
                <a:latin typeface="Aptos Narrow"/>
                <a:ea typeface="Calibri"/>
                <a:cs typeface="Calibri"/>
              </a:rPr>
              <a:t> intermediary layers bypassed </a:t>
            </a:r>
            <a:endParaRPr lang="en-US" sz="1600">
              <a:latin typeface="Aptos Narrow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Aptos Narrow"/>
                <a:ea typeface="Calibri"/>
                <a:cs typeface="Calibri"/>
              </a:rPr>
              <a:t>Up to </a:t>
            </a: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33.5%</a:t>
            </a:r>
            <a:r>
              <a:rPr lang="en-US" sz="160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600">
                <a:latin typeface="Aptos Narrow"/>
                <a:ea typeface="Calibri"/>
                <a:cs typeface="Calibri"/>
              </a:rPr>
              <a:t>less transport distance through batched pickups </a:t>
            </a:r>
            <a:endParaRPr lang="en-US" sz="1600">
              <a:latin typeface="Aptos Narrow"/>
            </a:endParaRPr>
          </a:p>
          <a:p>
            <a:pPr>
              <a:buFont typeface="Arial"/>
              <a:buChar char="•"/>
            </a:pPr>
            <a:endParaRPr lang="en-US" sz="1600">
              <a:latin typeface="Aptos Narrow"/>
              <a:ea typeface="Calibri"/>
              <a:cs typeface="Calibri"/>
            </a:endParaRPr>
          </a:p>
          <a:p>
            <a:r>
              <a:rPr lang="en-US" sz="1600">
                <a:latin typeface="Aptos Narrow"/>
                <a:ea typeface="Calibri"/>
                <a:cs typeface="Calibri"/>
              </a:rPr>
              <a:t>Calculations based on </a:t>
            </a:r>
            <a:r>
              <a:rPr lang="en-US" sz="16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(NABARD/ICAR Studies)</a:t>
            </a:r>
            <a:r>
              <a:rPr lang="en-US" sz="1600">
                <a:latin typeface="Aptos Narrow"/>
                <a:ea typeface="Calibri"/>
                <a:cs typeface="Calibri"/>
              </a:rPr>
              <a:t> </a:t>
            </a:r>
            <a:endParaRPr lang="en-US" sz="1600">
              <a:latin typeface="Aptos Narrow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C08B5-4DC0-283B-D31E-EECAC2881726}"/>
              </a:ext>
            </a:extLst>
          </p:cNvPr>
          <p:cNvSpPr/>
          <p:nvPr/>
        </p:nvSpPr>
        <p:spPr>
          <a:xfrm>
            <a:off x="121104" y="1276199"/>
            <a:ext cx="4385733" cy="288592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40D0C1-FC23-D437-F673-3F43CCF0F494}"/>
              </a:ext>
            </a:extLst>
          </p:cNvPr>
          <p:cNvSpPr/>
          <p:nvPr/>
        </p:nvSpPr>
        <p:spPr>
          <a:xfrm>
            <a:off x="133199" y="4650770"/>
            <a:ext cx="4397828" cy="20876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F92D3-25B0-5936-49B2-6E546C7349A2}"/>
              </a:ext>
            </a:extLst>
          </p:cNvPr>
          <p:cNvSpPr txBox="1"/>
          <p:nvPr/>
        </p:nvSpPr>
        <p:spPr>
          <a:xfrm>
            <a:off x="122967" y="4290433"/>
            <a:ext cx="38450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</a:rPr>
              <a:t>Practical value (platform analytics)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A5A9C-36EF-1E04-FA61-139F4AE9509F}"/>
              </a:ext>
            </a:extLst>
          </p:cNvPr>
          <p:cNvSpPr txBox="1"/>
          <p:nvPr/>
        </p:nvSpPr>
        <p:spPr>
          <a:xfrm>
            <a:off x="4653556" y="913723"/>
            <a:ext cx="33452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ptos Display"/>
                <a:ea typeface="Calibri"/>
                <a:cs typeface="Calibri"/>
              </a:rPr>
              <a:t>Challenge → Fix (Mitigation)</a:t>
            </a:r>
            <a:endParaRPr lang="en-US" sz="2000" b="1">
              <a:latin typeface="Aptos Display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373C93-8738-CF26-B25B-63C0D64AAA7A}"/>
              </a:ext>
            </a:extLst>
          </p:cNvPr>
          <p:cNvSpPr txBox="1"/>
          <p:nvPr/>
        </p:nvSpPr>
        <p:spPr>
          <a:xfrm>
            <a:off x="4658393" y="1276981"/>
            <a:ext cx="4632724" cy="5970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Aptos Narrow"/>
                <a:ea typeface="ＭＳ Ｐゴシック"/>
                <a:cs typeface="Calibri"/>
              </a:rPr>
              <a:t>1. Digital Literacy → Simple, Mobile-First UX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Challenge (Farmer):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Farmers with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limited digital literacy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may find a marketplace app hard to use.</a:t>
            </a:r>
            <a:endParaRPr lang="en-US" sz="1400">
              <a:solidFill>
                <a:srgbClr val="000000"/>
              </a:solidFill>
              <a:latin typeface="Aptos Narrow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Proposed fix: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Keep the</a:t>
            </a:r>
            <a:r>
              <a:rPr lang="en-US" sz="140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experience simple and mobile-first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, so a farmer can list produce and</a:t>
            </a:r>
            <a:r>
              <a:rPr lang="en-US" sz="1400" b="1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see a fair price</a:t>
            </a:r>
            <a:r>
              <a:rPr lang="en-US" sz="1400" b="1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without complex steps.</a:t>
            </a:r>
          </a:p>
          <a:p>
            <a:r>
              <a:rPr lang="en-US" sz="1400" b="1">
                <a:latin typeface="Aptos Narrow"/>
                <a:ea typeface="Calibri"/>
                <a:cs typeface="Calibri"/>
              </a:rPr>
              <a:t>2.  </a:t>
            </a:r>
            <a:r>
              <a:rPr lang="en-US" sz="1400" b="1">
                <a:latin typeface="Aptos Narrow"/>
                <a:ea typeface="ＭＳ Ｐゴシック"/>
                <a:cs typeface="Calibri"/>
              </a:rPr>
              <a:t> Buyer Trust → Verification + Ratings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Challenge (Buyer and Farmer):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Buyers can't inspect produce or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judge seller reliability</a:t>
            </a:r>
            <a:r>
              <a:rPr lang="en-US" sz="1400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400">
                <a:latin typeface="Aptos Narrow"/>
                <a:ea typeface="Calibri"/>
                <a:cs typeface="Calibri"/>
              </a:rPr>
              <a:t>re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motely</a:t>
            </a:r>
            <a:endParaRPr lang="en-US" sz="1400">
              <a:solidFill>
                <a:srgbClr val="000000"/>
              </a:solidFill>
              <a:latin typeface="Aptos Narrow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Proposed fix: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Verification badges</a:t>
            </a:r>
            <a:r>
              <a:rPr lang="en-US" sz="1400">
                <a:solidFill>
                  <a:srgbClr val="000000"/>
                </a:solidFill>
                <a:latin typeface="Aptos Narrow"/>
                <a:ea typeface="Calibri"/>
                <a:cs typeface="Calibri"/>
              </a:rPr>
              <a:t> on farmer and buyer profiles, plus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ratings after completed orders</a:t>
            </a:r>
          </a:p>
          <a:p>
            <a:r>
              <a:rPr lang="en-US" sz="1400" b="1">
                <a:latin typeface="Aptos Narrow"/>
                <a:ea typeface="Calibri"/>
                <a:cs typeface="Calibri"/>
              </a:rPr>
              <a:t>3. </a:t>
            </a:r>
            <a:r>
              <a:rPr lang="en-US" sz="1400" b="1">
                <a:latin typeface="Aptos Narrow"/>
                <a:ea typeface="ＭＳ Ｐゴシック"/>
                <a:cs typeface="Calibri"/>
              </a:rPr>
              <a:t>Small-Lot Logistics → Nearby-Order Batching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Aptos Narrow"/>
                <a:ea typeface="Calibri"/>
                <a:cs typeface="Calibri"/>
              </a:rPr>
              <a:t>Challenge (Farmer and Buyer):</a:t>
            </a:r>
            <a:r>
              <a:rPr lang="en-US" sz="1400">
                <a:latin typeface="Aptos Narrow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Small lots are costly to move</a:t>
            </a:r>
            <a:r>
              <a:rPr lang="en-US" sz="1400">
                <a:latin typeface="Aptos Narrow"/>
                <a:ea typeface="Calibri"/>
                <a:cs typeface="Calibri"/>
              </a:rPr>
              <a:t> one by one, and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perishables lose value</a:t>
            </a:r>
            <a:r>
              <a:rPr lang="en-US" sz="1400">
                <a:latin typeface="Aptos Narrow"/>
                <a:ea typeface="Calibri"/>
                <a:cs typeface="Calibri"/>
              </a:rPr>
              <a:t> in uncoordinated transit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Aptos Narrow"/>
                <a:ea typeface="Calibri"/>
                <a:cs typeface="Calibri"/>
              </a:rPr>
              <a:t>Proposed fix:</a:t>
            </a:r>
            <a:r>
              <a:rPr lang="en-US" sz="1400">
                <a:latin typeface="Aptos Narrow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Group nearby orders </a:t>
            </a:r>
            <a:r>
              <a:rPr lang="en-US" sz="1400">
                <a:latin typeface="Aptos Narrow"/>
                <a:ea typeface="Calibri"/>
                <a:cs typeface="Calibri"/>
              </a:rPr>
              <a:t>and farm pickups into one shared transit batch, with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stops sequenced by an optimized route.</a:t>
            </a:r>
            <a:endParaRPr lang="en-US" sz="1400" b="1">
              <a:solidFill>
                <a:srgbClr val="FF0000"/>
              </a:solidFill>
              <a:latin typeface="Aptos Narrow"/>
              <a:cs typeface="Calibri"/>
            </a:endParaRPr>
          </a:p>
          <a:p>
            <a:r>
              <a:rPr lang="en-US" sz="1400" b="1">
                <a:latin typeface="Aptos Narrow"/>
                <a:ea typeface="ＭＳ Ｐゴシック"/>
              </a:rPr>
              <a:t>4. Limited Data → Baseline Sample / Synthetic Dataset</a:t>
            </a: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Aptos Narrow"/>
                <a:ea typeface="Calibri"/>
                <a:cs typeface="Calibri"/>
              </a:rPr>
              <a:t>Challenge (Farmer and Buyer):</a:t>
            </a:r>
            <a:r>
              <a:rPr lang="en-US" sz="1400">
                <a:latin typeface="Aptos Narrow"/>
                <a:ea typeface="Calibri"/>
                <a:cs typeface="Calibri"/>
              </a:rPr>
              <a:t> A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new platform </a:t>
            </a:r>
            <a:r>
              <a:rPr lang="en-US" sz="1400">
                <a:latin typeface="Aptos Narrow"/>
                <a:ea typeface="Calibri"/>
                <a:cs typeface="Calibri"/>
              </a:rPr>
              <a:t>has little transaction history, which can 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weaken the fair-price band and benchmarks.</a:t>
            </a:r>
            <a:endParaRPr lang="en-US" sz="1400" b="1">
              <a:solidFill>
                <a:srgbClr val="FF0000"/>
              </a:solidFill>
              <a:latin typeface="Aptos Narrow"/>
            </a:endParaRPr>
          </a:p>
          <a:p>
            <a:pPr marL="285750" indent="-285750">
              <a:buFont typeface="Arial"/>
              <a:buChar char="•"/>
            </a:pPr>
            <a:r>
              <a:rPr lang="en-US" sz="1400" b="1">
                <a:latin typeface="Aptos Narrow"/>
                <a:ea typeface="Calibri"/>
                <a:cs typeface="Calibri"/>
              </a:rPr>
              <a:t>Proposed fix:</a:t>
            </a:r>
            <a:r>
              <a:rPr lang="en-US" sz="1400">
                <a:latin typeface="Aptos Narrow"/>
                <a:ea typeface="Calibri"/>
                <a:cs typeface="Calibri"/>
              </a:rPr>
              <a:t> Bootstrap the pricing engine with a</a:t>
            </a:r>
            <a:r>
              <a:rPr lang="en-US" sz="1400" b="1">
                <a:solidFill>
                  <a:srgbClr val="FF0000"/>
                </a:solidFill>
                <a:latin typeface="Aptos Narrow"/>
                <a:ea typeface="Calibri"/>
                <a:cs typeface="Calibri"/>
              </a:rPr>
              <a:t> baseline sample/synthetic dataset</a:t>
            </a:r>
            <a:endParaRPr lang="en-US" sz="1400">
              <a:latin typeface="Aptos Narrow"/>
              <a:ea typeface="Calibri"/>
              <a:cs typeface="Calibri"/>
            </a:endParaRPr>
          </a:p>
          <a:p>
            <a:endParaRPr lang="en-US" sz="1400" b="1">
              <a:solidFill>
                <a:srgbClr val="FF0000"/>
              </a:solidFill>
              <a:latin typeface="Aptos Display"/>
              <a:ea typeface="Calibri"/>
              <a:cs typeface="Calibri"/>
            </a:endParaRPr>
          </a:p>
          <a:p>
            <a:endParaRPr lang="en-US" sz="1600">
              <a:solidFill>
                <a:srgbClr val="000000"/>
              </a:solidFill>
              <a:latin typeface="Aptos Display"/>
              <a:ea typeface="Calibri"/>
              <a:cs typeface="Calibri"/>
            </a:endParaRPr>
          </a:p>
          <a:p>
            <a:endParaRPr lang="en-US" sz="1600">
              <a:solidFill>
                <a:srgbClr val="000000"/>
              </a:solidFill>
              <a:latin typeface="Aptos Display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8FB4EB-7DC3-FAF6-E9A5-FA4745513353}"/>
              </a:ext>
            </a:extLst>
          </p:cNvPr>
          <p:cNvSpPr/>
          <p:nvPr/>
        </p:nvSpPr>
        <p:spPr>
          <a:xfrm>
            <a:off x="4659087" y="1314752"/>
            <a:ext cx="4627638" cy="5413829"/>
          </a:xfrm>
          <a:prstGeom prst="rect">
            <a:avLst/>
          </a:prstGeom>
          <a:noFill/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45FA87-68DF-FE29-D8C9-3606355C0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568" y="1777999"/>
            <a:ext cx="2924198" cy="44510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2346C4-EC9B-5D56-62EA-A419B818DBB6}"/>
              </a:ext>
            </a:extLst>
          </p:cNvPr>
          <p:cNvSpPr txBox="1"/>
          <p:nvPr/>
        </p:nvSpPr>
        <p:spPr>
          <a:xfrm>
            <a:off x="9674891" y="1324090"/>
            <a:ext cx="21516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alibri"/>
                <a:ea typeface="ＭＳ Ｐゴシック"/>
                <a:cs typeface="Calibri"/>
              </a:rPr>
              <a:t>Challenges and Fixes</a:t>
            </a:r>
            <a:endParaRPr lang="en-US" b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463422" y="-2134"/>
            <a:ext cx="6935338" cy="551599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rgbClr val="0000FF"/>
                </a:solidFill>
                <a:latin typeface="Times New Roman"/>
                <a:ea typeface="ＭＳ Ｐゴシック"/>
                <a:cs typeface="Times New Roman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280" y="1500"/>
            <a:ext cx="1908656" cy="675652"/>
          </a:xfrm>
          <a:prstGeom prst="rect">
            <a:avLst/>
          </a:prstGeom>
        </p:spPr>
      </p:pic>
      <p:sp>
        <p:nvSpPr>
          <p:cNvPr id="3" name="object 23">
            <a:extLst>
              <a:ext uri="{FF2B5EF4-FFF2-40B4-BE49-F238E27FC236}">
                <a16:creationId xmlns:a16="http://schemas.microsoft.com/office/drawing/2014/main" id="{53CE72D3-9618-9A49-6957-0A2E87774AC1}"/>
              </a:ext>
            </a:extLst>
          </p:cNvPr>
          <p:cNvSpPr/>
          <p:nvPr/>
        </p:nvSpPr>
        <p:spPr>
          <a:xfrm>
            <a:off x="6168" y="137282"/>
            <a:ext cx="2181768" cy="536061"/>
          </a:xfrm>
          <a:custGeom>
            <a:avLst/>
            <a:gdLst/>
            <a:ahLst/>
            <a:cxnLst/>
            <a:rect l="l" t="t" r="r" b="b"/>
            <a:pathLst>
              <a:path w="1710055" h="487680">
                <a:moveTo>
                  <a:pt x="0" y="243840"/>
                </a:moveTo>
                <a:lnTo>
                  <a:pt x="10794" y="204470"/>
                </a:lnTo>
                <a:lnTo>
                  <a:pt x="43179" y="167004"/>
                </a:lnTo>
                <a:lnTo>
                  <a:pt x="95249" y="131445"/>
                </a:lnTo>
                <a:lnTo>
                  <a:pt x="165100" y="99695"/>
                </a:lnTo>
                <a:lnTo>
                  <a:pt x="205740" y="85090"/>
                </a:lnTo>
                <a:lnTo>
                  <a:pt x="250190" y="71120"/>
                </a:lnTo>
                <a:lnTo>
                  <a:pt x="298450" y="58420"/>
                </a:lnTo>
                <a:lnTo>
                  <a:pt x="349885" y="46990"/>
                </a:lnTo>
                <a:lnTo>
                  <a:pt x="404495" y="36195"/>
                </a:lnTo>
                <a:lnTo>
                  <a:pt x="461644" y="27304"/>
                </a:lnTo>
                <a:lnTo>
                  <a:pt x="521969" y="19050"/>
                </a:lnTo>
                <a:lnTo>
                  <a:pt x="584835" y="12065"/>
                </a:lnTo>
                <a:lnTo>
                  <a:pt x="649605" y="6984"/>
                </a:lnTo>
                <a:lnTo>
                  <a:pt x="716280" y="3175"/>
                </a:lnTo>
                <a:lnTo>
                  <a:pt x="784860" y="634"/>
                </a:lnTo>
                <a:lnTo>
                  <a:pt x="854710" y="0"/>
                </a:lnTo>
                <a:lnTo>
                  <a:pt x="925194" y="634"/>
                </a:lnTo>
                <a:lnTo>
                  <a:pt x="993775" y="3175"/>
                </a:lnTo>
                <a:lnTo>
                  <a:pt x="1060450" y="6984"/>
                </a:lnTo>
                <a:lnTo>
                  <a:pt x="1125220" y="12065"/>
                </a:lnTo>
                <a:lnTo>
                  <a:pt x="1187450" y="19050"/>
                </a:lnTo>
                <a:lnTo>
                  <a:pt x="1247775" y="27304"/>
                </a:lnTo>
                <a:lnTo>
                  <a:pt x="1304925" y="36195"/>
                </a:lnTo>
                <a:lnTo>
                  <a:pt x="1359535" y="46990"/>
                </a:lnTo>
                <a:lnTo>
                  <a:pt x="1410970" y="58420"/>
                </a:lnTo>
                <a:lnTo>
                  <a:pt x="1459230" y="71120"/>
                </a:lnTo>
                <a:lnTo>
                  <a:pt x="1503680" y="85090"/>
                </a:lnTo>
                <a:lnTo>
                  <a:pt x="1544955" y="99695"/>
                </a:lnTo>
                <a:lnTo>
                  <a:pt x="1581785" y="115570"/>
                </a:lnTo>
                <a:lnTo>
                  <a:pt x="1642745" y="148590"/>
                </a:lnTo>
                <a:lnTo>
                  <a:pt x="1684655" y="185420"/>
                </a:lnTo>
                <a:lnTo>
                  <a:pt x="1706880" y="223520"/>
                </a:lnTo>
                <a:lnTo>
                  <a:pt x="1710055" y="243840"/>
                </a:lnTo>
                <a:lnTo>
                  <a:pt x="1706880" y="263525"/>
                </a:lnTo>
                <a:lnTo>
                  <a:pt x="1684655" y="302260"/>
                </a:lnTo>
                <a:lnTo>
                  <a:pt x="1642745" y="338454"/>
                </a:lnTo>
                <a:lnTo>
                  <a:pt x="1581785" y="372110"/>
                </a:lnTo>
                <a:lnTo>
                  <a:pt x="1544955" y="387985"/>
                </a:lnTo>
                <a:lnTo>
                  <a:pt x="1503680" y="402589"/>
                </a:lnTo>
                <a:lnTo>
                  <a:pt x="1459230" y="415925"/>
                </a:lnTo>
                <a:lnTo>
                  <a:pt x="1410970" y="428625"/>
                </a:lnTo>
                <a:lnTo>
                  <a:pt x="1359535" y="440689"/>
                </a:lnTo>
                <a:lnTo>
                  <a:pt x="1304925" y="450850"/>
                </a:lnTo>
                <a:lnTo>
                  <a:pt x="1247775" y="460375"/>
                </a:lnTo>
                <a:lnTo>
                  <a:pt x="1187450" y="468629"/>
                </a:lnTo>
                <a:lnTo>
                  <a:pt x="1125220" y="474979"/>
                </a:lnTo>
                <a:lnTo>
                  <a:pt x="1060450" y="480695"/>
                </a:lnTo>
                <a:lnTo>
                  <a:pt x="993775" y="484504"/>
                </a:lnTo>
                <a:lnTo>
                  <a:pt x="925194" y="487045"/>
                </a:lnTo>
                <a:lnTo>
                  <a:pt x="854710" y="487679"/>
                </a:lnTo>
                <a:lnTo>
                  <a:pt x="784860" y="487045"/>
                </a:lnTo>
                <a:lnTo>
                  <a:pt x="716280" y="484504"/>
                </a:lnTo>
                <a:lnTo>
                  <a:pt x="649605" y="480695"/>
                </a:lnTo>
                <a:lnTo>
                  <a:pt x="584835" y="474979"/>
                </a:lnTo>
                <a:lnTo>
                  <a:pt x="521969" y="468629"/>
                </a:lnTo>
                <a:lnTo>
                  <a:pt x="461644" y="460375"/>
                </a:lnTo>
                <a:lnTo>
                  <a:pt x="404495" y="450850"/>
                </a:lnTo>
                <a:lnTo>
                  <a:pt x="349885" y="440689"/>
                </a:lnTo>
                <a:lnTo>
                  <a:pt x="298450" y="428625"/>
                </a:lnTo>
                <a:lnTo>
                  <a:pt x="250190" y="415925"/>
                </a:lnTo>
                <a:lnTo>
                  <a:pt x="205740" y="402589"/>
                </a:lnTo>
                <a:lnTo>
                  <a:pt x="165100" y="387985"/>
                </a:lnTo>
                <a:lnTo>
                  <a:pt x="128270" y="372110"/>
                </a:lnTo>
                <a:lnTo>
                  <a:pt x="67310" y="338454"/>
                </a:lnTo>
                <a:lnTo>
                  <a:pt x="24765" y="302260"/>
                </a:lnTo>
                <a:lnTo>
                  <a:pt x="2540" y="263525"/>
                </a:lnTo>
                <a:lnTo>
                  <a:pt x="0" y="243840"/>
                </a:lnTo>
                <a:close/>
              </a:path>
            </a:pathLst>
          </a:custGeom>
          <a:ln w="12700">
            <a:solidFill>
              <a:srgbClr val="1C2E52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24">
            <a:extLst>
              <a:ext uri="{FF2B5EF4-FFF2-40B4-BE49-F238E27FC236}">
                <a16:creationId xmlns:a16="http://schemas.microsoft.com/office/drawing/2014/main" id="{55ABA3B9-87D6-713E-F56C-124790624BEC}"/>
              </a:ext>
            </a:extLst>
          </p:cNvPr>
          <p:cNvSpPr txBox="1"/>
          <p:nvPr/>
        </p:nvSpPr>
        <p:spPr>
          <a:xfrm>
            <a:off x="253056" y="297421"/>
            <a:ext cx="1939258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00"/>
              </a:spcBef>
            </a:pPr>
            <a:r>
              <a:rPr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SINISTER</a:t>
            </a:r>
            <a:r>
              <a:rPr lang="en-US"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 </a:t>
            </a:r>
            <a:r>
              <a:rPr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SIX</a:t>
            </a:r>
            <a:r>
              <a:rPr lang="en-US"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*</a:t>
            </a:r>
            <a:endParaRPr lang="en-US" sz="1600">
              <a:latin typeface="Verdana"/>
              <a:ea typeface="Verdana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901DA-6EA6-F2BA-245B-6AC7ED30C07A}"/>
              </a:ext>
            </a:extLst>
          </p:cNvPr>
          <p:cNvSpPr txBox="1"/>
          <p:nvPr/>
        </p:nvSpPr>
        <p:spPr>
          <a:xfrm>
            <a:off x="34358" y="643242"/>
            <a:ext cx="304952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ＭＳ Ｐゴシック"/>
                <a:cs typeface="Calibri"/>
              </a:rPr>
              <a:t> Impacts on Framers </a:t>
            </a:r>
            <a:endParaRPr lang="en-US" sz="2400" b="1">
              <a:latin typeface="Aptos Display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A9377B-9488-2816-2A59-885152CA6D7F}"/>
              </a:ext>
            </a:extLst>
          </p:cNvPr>
          <p:cNvSpPr txBox="1"/>
          <p:nvPr/>
        </p:nvSpPr>
        <p:spPr>
          <a:xfrm>
            <a:off x="4477692" y="631678"/>
            <a:ext cx="449937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 Display"/>
                <a:ea typeface="Calibri"/>
                <a:cs typeface="Calibri"/>
              </a:rPr>
              <a:t>Impacts on Buyers (Consumers)</a:t>
            </a:r>
            <a:r>
              <a:rPr lang="en-US" sz="2400">
                <a:latin typeface="Aptos Display"/>
                <a:ea typeface="Calibri"/>
                <a:cs typeface="Calibri"/>
              </a:rPr>
              <a:t>  </a:t>
            </a:r>
            <a:endParaRPr lang="en-US" sz="2400">
              <a:latin typeface="Aptos Display"/>
              <a:cs typeface="Calibri"/>
            </a:endParaRPr>
          </a:p>
          <a:p>
            <a:endParaRPr lang="en-US" sz="2400">
              <a:latin typeface="Aptos Display"/>
              <a:ea typeface="Calibri"/>
              <a:cs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C457065-4AEE-E832-D008-BCCB06D7C8C4}"/>
              </a:ext>
            </a:extLst>
          </p:cNvPr>
          <p:cNvGrpSpPr/>
          <p:nvPr/>
        </p:nvGrpSpPr>
        <p:grpSpPr>
          <a:xfrm>
            <a:off x="56013" y="1143568"/>
            <a:ext cx="9127222" cy="3502066"/>
            <a:chOff x="101506" y="1257300"/>
            <a:chExt cx="9127222" cy="350206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7BEBAE-C06E-83B6-5256-4295116128C3}"/>
                </a:ext>
              </a:extLst>
            </p:cNvPr>
            <p:cNvSpPr/>
            <p:nvPr/>
          </p:nvSpPr>
          <p:spPr>
            <a:xfrm>
              <a:off x="101506" y="1267251"/>
              <a:ext cx="4326339" cy="2722729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E800AB-E4D7-71C3-C651-02BD559A8B3D}"/>
                </a:ext>
              </a:extLst>
            </p:cNvPr>
            <p:cNvSpPr txBox="1"/>
            <p:nvPr/>
          </p:nvSpPr>
          <p:spPr>
            <a:xfrm>
              <a:off x="136668" y="1308675"/>
              <a:ext cx="4289342" cy="138499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List Crops directly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 with grade, harvest date, organic certification, packaging 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Get an AI fair price band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[Min, Target, Max] per quintal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 while creating a listing</a:t>
              </a:r>
              <a:endParaRPr lang="en-US" sz="1200">
                <a:latin typeface="Aptos Display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See</a:t>
              </a:r>
              <a:r>
                <a:rPr lang="en-US" sz="1200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mandi rate vs AI fair price vs retail price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 side by side</a:t>
              </a:r>
              <a:endParaRPr lang="en-US" sz="1200">
                <a:latin typeface="Aptos Display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Receive RFQs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 and purchase requests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directly from wholesale buyers</a:t>
              </a:r>
              <a:endParaRPr lang="en-US" sz="1200" b="1">
                <a:solidFill>
                  <a:srgbClr val="FF0000"/>
                </a:solidFill>
                <a:latin typeface="Aptos Display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B15F5F-12EC-41CF-5653-E7BBC02A6C7F}"/>
                </a:ext>
              </a:extLst>
            </p:cNvPr>
            <p:cNvSpPr txBox="1"/>
            <p:nvPr/>
          </p:nvSpPr>
          <p:spPr>
            <a:xfrm>
              <a:off x="136558" y="2697263"/>
              <a:ext cx="4288720" cy="20621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>
                  <a:latin typeface="Aptos Display"/>
                  <a:ea typeface="Calibri"/>
                  <a:cs typeface="Calibri"/>
                </a:rPr>
                <a:t>Potential</a:t>
              </a:r>
              <a:endParaRPr lang="en-US" b="1">
                <a:latin typeface="Aptos Display"/>
              </a:endParaRPr>
            </a:p>
            <a:p>
              <a:pPr marL="742950" lvl="1" indent="-285750">
                <a:buFont typeface="Arial"/>
                <a:buChar char="•"/>
              </a:pP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Price realization of 61.8% vs 32.4%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 in the traditional mandi baseline</a:t>
              </a:r>
              <a:endParaRPr lang="en-US" sz="1200">
                <a:latin typeface="Aptos Display"/>
              </a:endParaRPr>
            </a:p>
            <a:p>
              <a:pPr marL="742950" lvl="1" indent="-285750">
                <a:buFont typeface="Arial"/>
                <a:buChar char="•"/>
              </a:pP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Less distress selling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, through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AI fair pricing</a:t>
              </a:r>
            </a:p>
            <a:p>
              <a:pPr marL="742950" lvl="1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Lower transit wastage through batched pickups </a:t>
              </a:r>
              <a:r>
                <a:rPr lang="en-US" sz="1200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(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~24.5% estimated spoilage reduction</a:t>
              </a:r>
              <a:r>
                <a:rPr lang="en-US" sz="1200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)</a:t>
              </a:r>
              <a:endParaRPr lang="en-US" sz="1200">
                <a:solidFill>
                  <a:srgbClr val="FF0000"/>
                </a:solidFill>
                <a:latin typeface="Aptos Display"/>
                <a:cs typeface="Calibri"/>
              </a:endParaRPr>
            </a:p>
            <a:p>
              <a:endParaRPr lang="en-US" sz="1600" b="1">
                <a:latin typeface="Aptos Display"/>
                <a:ea typeface="Calibri"/>
                <a:cs typeface="Calibri"/>
              </a:endParaRPr>
            </a:p>
            <a:p>
              <a:pPr marL="285750" indent="-285750" algn="l">
                <a:buFont typeface="Arial"/>
                <a:buChar char="•"/>
              </a:pPr>
              <a:endParaRPr lang="en-US" sz="1600">
                <a:latin typeface="Aptos Display"/>
                <a:cs typeface="Calibri" pitchFamily="34" charset="0"/>
              </a:endParaRPr>
            </a:p>
            <a:p>
              <a:endParaRPr lang="en-US" sz="1600">
                <a:latin typeface="Aptos Display"/>
                <a:cs typeface="Calibri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6FEB28-C47A-C26F-49E0-C7AF5883DEEB}"/>
                </a:ext>
              </a:extLst>
            </p:cNvPr>
            <p:cNvSpPr/>
            <p:nvPr/>
          </p:nvSpPr>
          <p:spPr>
            <a:xfrm>
              <a:off x="4561197" y="1257300"/>
              <a:ext cx="4667531" cy="272272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3499211612">
                    <a:custGeom>
                      <a:avLst/>
                      <a:gdLst>
                        <a:gd name="csX0" fmla="*/ 0 w 4485562"/>
                        <a:gd name="csY0" fmla="*/ 0 h 4474190"/>
                        <a:gd name="csX1" fmla="*/ 506228 w 4485562"/>
                        <a:gd name="csY1" fmla="*/ 0 h 4474190"/>
                        <a:gd name="csX2" fmla="*/ 1147022 w 4485562"/>
                        <a:gd name="csY2" fmla="*/ 0 h 4474190"/>
                        <a:gd name="csX3" fmla="*/ 1698106 w 4485562"/>
                        <a:gd name="csY3" fmla="*/ 0 h 4474190"/>
                        <a:gd name="csX4" fmla="*/ 2204333 w 4485562"/>
                        <a:gd name="csY4" fmla="*/ 0 h 4474190"/>
                        <a:gd name="csX5" fmla="*/ 2710561 w 4485562"/>
                        <a:gd name="csY5" fmla="*/ 0 h 4474190"/>
                        <a:gd name="csX6" fmla="*/ 3441067 w 4485562"/>
                        <a:gd name="csY6" fmla="*/ 0 h 4474190"/>
                        <a:gd name="csX7" fmla="*/ 4485562 w 4485562"/>
                        <a:gd name="csY7" fmla="*/ 0 h 4474190"/>
                        <a:gd name="csX8" fmla="*/ 4485562 w 4485562"/>
                        <a:gd name="csY8" fmla="*/ 504944 h 4474190"/>
                        <a:gd name="csX9" fmla="*/ 4485562 w 4485562"/>
                        <a:gd name="csY9" fmla="*/ 1054631 h 4474190"/>
                        <a:gd name="csX10" fmla="*/ 4485562 w 4485562"/>
                        <a:gd name="csY10" fmla="*/ 1738542 h 4474190"/>
                        <a:gd name="csX11" fmla="*/ 4485562 w 4485562"/>
                        <a:gd name="csY11" fmla="*/ 2467196 h 4474190"/>
                        <a:gd name="csX12" fmla="*/ 4485562 w 4485562"/>
                        <a:gd name="csY12" fmla="*/ 3151108 h 4474190"/>
                        <a:gd name="csX13" fmla="*/ 4485562 w 4485562"/>
                        <a:gd name="csY13" fmla="*/ 3656052 h 4474190"/>
                        <a:gd name="csX14" fmla="*/ 4485562 w 4485562"/>
                        <a:gd name="csY14" fmla="*/ 4474190 h 4474190"/>
                        <a:gd name="csX15" fmla="*/ 3979334 w 4485562"/>
                        <a:gd name="csY15" fmla="*/ 4474190 h 4474190"/>
                        <a:gd name="csX16" fmla="*/ 3248828 w 4485562"/>
                        <a:gd name="csY16" fmla="*/ 4474190 h 4474190"/>
                        <a:gd name="csX17" fmla="*/ 2697745 w 4485562"/>
                        <a:gd name="csY17" fmla="*/ 4474190 h 4474190"/>
                        <a:gd name="csX18" fmla="*/ 2101806 w 4485562"/>
                        <a:gd name="csY18" fmla="*/ 4474190 h 4474190"/>
                        <a:gd name="csX19" fmla="*/ 1595578 w 4485562"/>
                        <a:gd name="csY19" fmla="*/ 4474190 h 4474190"/>
                        <a:gd name="csX20" fmla="*/ 909928 w 4485562"/>
                        <a:gd name="csY20" fmla="*/ 4474190 h 4474190"/>
                        <a:gd name="csX21" fmla="*/ 0 w 4485562"/>
                        <a:gd name="csY21" fmla="*/ 4474190 h 4474190"/>
                        <a:gd name="csX22" fmla="*/ 0 w 4485562"/>
                        <a:gd name="csY22" fmla="*/ 3835020 h 4474190"/>
                        <a:gd name="csX23" fmla="*/ 0 w 4485562"/>
                        <a:gd name="csY23" fmla="*/ 3151108 h 4474190"/>
                        <a:gd name="csX24" fmla="*/ 0 w 4485562"/>
                        <a:gd name="csY24" fmla="*/ 2601422 h 4474190"/>
                        <a:gd name="csX25" fmla="*/ 0 w 4485562"/>
                        <a:gd name="csY25" fmla="*/ 2051736 h 4474190"/>
                        <a:gd name="csX26" fmla="*/ 0 w 4485562"/>
                        <a:gd name="csY26" fmla="*/ 1502050 h 4474190"/>
                        <a:gd name="csX27" fmla="*/ 0 w 4485562"/>
                        <a:gd name="csY27" fmla="*/ 862879 h 4474190"/>
                        <a:gd name="csX28" fmla="*/ 0 w 4485562"/>
                        <a:gd name="csY28" fmla="*/ 0 h 447419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</a:cxnLst>
                      <a:rect l="l" t="t" r="r" b="b"/>
                      <a:pathLst>
                        <a:path w="4485562" h="4474190" fill="none" extrusionOk="0">
                          <a:moveTo>
                            <a:pt x="0" y="0"/>
                          </a:moveTo>
                          <a:cubicBezTo>
                            <a:pt x="124268" y="-17742"/>
                            <a:pt x="396995" y="-10723"/>
                            <a:pt x="506228" y="0"/>
                          </a:cubicBezTo>
                          <a:cubicBezTo>
                            <a:pt x="615461" y="10723"/>
                            <a:pt x="973048" y="20453"/>
                            <a:pt x="1147022" y="0"/>
                          </a:cubicBezTo>
                          <a:cubicBezTo>
                            <a:pt x="1320996" y="-20453"/>
                            <a:pt x="1436978" y="20000"/>
                            <a:pt x="1698106" y="0"/>
                          </a:cubicBezTo>
                          <a:cubicBezTo>
                            <a:pt x="1959234" y="-20000"/>
                            <a:pt x="2012017" y="-3976"/>
                            <a:pt x="2204333" y="0"/>
                          </a:cubicBezTo>
                          <a:cubicBezTo>
                            <a:pt x="2396649" y="3976"/>
                            <a:pt x="2486575" y="10176"/>
                            <a:pt x="2710561" y="0"/>
                          </a:cubicBezTo>
                          <a:cubicBezTo>
                            <a:pt x="2934547" y="-10176"/>
                            <a:pt x="3174033" y="-31237"/>
                            <a:pt x="3441067" y="0"/>
                          </a:cubicBezTo>
                          <a:cubicBezTo>
                            <a:pt x="3708101" y="31237"/>
                            <a:pt x="4191009" y="15307"/>
                            <a:pt x="4485562" y="0"/>
                          </a:cubicBezTo>
                          <a:cubicBezTo>
                            <a:pt x="4471331" y="114873"/>
                            <a:pt x="4488475" y="382140"/>
                            <a:pt x="4485562" y="504944"/>
                          </a:cubicBezTo>
                          <a:cubicBezTo>
                            <a:pt x="4482649" y="627748"/>
                            <a:pt x="4488627" y="847053"/>
                            <a:pt x="4485562" y="1054631"/>
                          </a:cubicBezTo>
                          <a:cubicBezTo>
                            <a:pt x="4482497" y="1262209"/>
                            <a:pt x="4484905" y="1539851"/>
                            <a:pt x="4485562" y="1738542"/>
                          </a:cubicBezTo>
                          <a:cubicBezTo>
                            <a:pt x="4486219" y="1937233"/>
                            <a:pt x="4459344" y="2286330"/>
                            <a:pt x="4485562" y="2467196"/>
                          </a:cubicBezTo>
                          <a:cubicBezTo>
                            <a:pt x="4511780" y="2648062"/>
                            <a:pt x="4465481" y="2918417"/>
                            <a:pt x="4485562" y="3151108"/>
                          </a:cubicBezTo>
                          <a:cubicBezTo>
                            <a:pt x="4505643" y="3383799"/>
                            <a:pt x="4502645" y="3488682"/>
                            <a:pt x="4485562" y="3656052"/>
                          </a:cubicBezTo>
                          <a:cubicBezTo>
                            <a:pt x="4468479" y="3823422"/>
                            <a:pt x="4455534" y="4134899"/>
                            <a:pt x="4485562" y="4474190"/>
                          </a:cubicBezTo>
                          <a:cubicBezTo>
                            <a:pt x="4338665" y="4449650"/>
                            <a:pt x="4097982" y="4495133"/>
                            <a:pt x="3979334" y="4474190"/>
                          </a:cubicBezTo>
                          <a:cubicBezTo>
                            <a:pt x="3860686" y="4453247"/>
                            <a:pt x="3522145" y="4506600"/>
                            <a:pt x="3248828" y="4474190"/>
                          </a:cubicBezTo>
                          <a:cubicBezTo>
                            <a:pt x="2975511" y="4441780"/>
                            <a:pt x="2888545" y="4486661"/>
                            <a:pt x="2697745" y="4474190"/>
                          </a:cubicBezTo>
                          <a:cubicBezTo>
                            <a:pt x="2506945" y="4461719"/>
                            <a:pt x="2371857" y="4502649"/>
                            <a:pt x="2101806" y="4474190"/>
                          </a:cubicBezTo>
                          <a:cubicBezTo>
                            <a:pt x="1831755" y="4445731"/>
                            <a:pt x="1746108" y="4498927"/>
                            <a:pt x="1595578" y="4474190"/>
                          </a:cubicBezTo>
                          <a:cubicBezTo>
                            <a:pt x="1445048" y="4449453"/>
                            <a:pt x="1074518" y="4474803"/>
                            <a:pt x="909928" y="4474190"/>
                          </a:cubicBezTo>
                          <a:cubicBezTo>
                            <a:pt x="745338" y="4473578"/>
                            <a:pt x="190745" y="4479190"/>
                            <a:pt x="0" y="4474190"/>
                          </a:cubicBezTo>
                          <a:cubicBezTo>
                            <a:pt x="-20106" y="4295143"/>
                            <a:pt x="-6941" y="4137564"/>
                            <a:pt x="0" y="3835020"/>
                          </a:cubicBezTo>
                          <a:cubicBezTo>
                            <a:pt x="6941" y="3532476"/>
                            <a:pt x="22692" y="3329440"/>
                            <a:pt x="0" y="3151108"/>
                          </a:cubicBezTo>
                          <a:cubicBezTo>
                            <a:pt x="-22692" y="2972776"/>
                            <a:pt x="22593" y="2856680"/>
                            <a:pt x="0" y="2601422"/>
                          </a:cubicBezTo>
                          <a:cubicBezTo>
                            <a:pt x="-22593" y="2346164"/>
                            <a:pt x="-18720" y="2214678"/>
                            <a:pt x="0" y="2051736"/>
                          </a:cubicBezTo>
                          <a:cubicBezTo>
                            <a:pt x="18720" y="1888794"/>
                            <a:pt x="-25043" y="1756911"/>
                            <a:pt x="0" y="1502050"/>
                          </a:cubicBezTo>
                          <a:cubicBezTo>
                            <a:pt x="25043" y="1247189"/>
                            <a:pt x="-31828" y="1143704"/>
                            <a:pt x="0" y="862879"/>
                          </a:cubicBezTo>
                          <a:cubicBezTo>
                            <a:pt x="31828" y="582054"/>
                            <a:pt x="29802" y="307558"/>
                            <a:pt x="0" y="0"/>
                          </a:cubicBezTo>
                          <a:close/>
                        </a:path>
                        <a:path w="4485562" h="4474190" stroke="0" extrusionOk="0">
                          <a:moveTo>
                            <a:pt x="0" y="0"/>
                          </a:moveTo>
                          <a:cubicBezTo>
                            <a:pt x="292950" y="27325"/>
                            <a:pt x="397780" y="2586"/>
                            <a:pt x="595939" y="0"/>
                          </a:cubicBezTo>
                          <a:cubicBezTo>
                            <a:pt x="794098" y="-2586"/>
                            <a:pt x="1036454" y="-5598"/>
                            <a:pt x="1147022" y="0"/>
                          </a:cubicBezTo>
                          <a:cubicBezTo>
                            <a:pt x="1257590" y="5598"/>
                            <a:pt x="1448129" y="-17989"/>
                            <a:pt x="1698106" y="0"/>
                          </a:cubicBezTo>
                          <a:cubicBezTo>
                            <a:pt x="1948083" y="17989"/>
                            <a:pt x="2074259" y="-9582"/>
                            <a:pt x="2204333" y="0"/>
                          </a:cubicBezTo>
                          <a:cubicBezTo>
                            <a:pt x="2334407" y="9582"/>
                            <a:pt x="2473437" y="1924"/>
                            <a:pt x="2710561" y="0"/>
                          </a:cubicBezTo>
                          <a:cubicBezTo>
                            <a:pt x="2947685" y="-1924"/>
                            <a:pt x="3056208" y="-9171"/>
                            <a:pt x="3216789" y="0"/>
                          </a:cubicBezTo>
                          <a:cubicBezTo>
                            <a:pt x="3377370" y="9171"/>
                            <a:pt x="3697355" y="-19382"/>
                            <a:pt x="3902439" y="0"/>
                          </a:cubicBezTo>
                          <a:cubicBezTo>
                            <a:pt x="4107523" y="19382"/>
                            <a:pt x="4348710" y="-20291"/>
                            <a:pt x="4485562" y="0"/>
                          </a:cubicBezTo>
                          <a:cubicBezTo>
                            <a:pt x="4463378" y="183899"/>
                            <a:pt x="4476522" y="373674"/>
                            <a:pt x="4485562" y="549686"/>
                          </a:cubicBezTo>
                          <a:cubicBezTo>
                            <a:pt x="4494602" y="725698"/>
                            <a:pt x="4499871" y="925900"/>
                            <a:pt x="4485562" y="1099372"/>
                          </a:cubicBezTo>
                          <a:cubicBezTo>
                            <a:pt x="4471253" y="1272844"/>
                            <a:pt x="4490855" y="1519052"/>
                            <a:pt x="4485562" y="1649059"/>
                          </a:cubicBezTo>
                          <a:cubicBezTo>
                            <a:pt x="4480269" y="1779066"/>
                            <a:pt x="4493164" y="2021232"/>
                            <a:pt x="4485562" y="2198745"/>
                          </a:cubicBezTo>
                          <a:cubicBezTo>
                            <a:pt x="4477960" y="2376258"/>
                            <a:pt x="4475178" y="2573753"/>
                            <a:pt x="4485562" y="2837915"/>
                          </a:cubicBezTo>
                          <a:cubicBezTo>
                            <a:pt x="4495947" y="3102077"/>
                            <a:pt x="4477626" y="3219843"/>
                            <a:pt x="4485562" y="3521827"/>
                          </a:cubicBezTo>
                          <a:cubicBezTo>
                            <a:pt x="4493498" y="3823811"/>
                            <a:pt x="4494065" y="4080427"/>
                            <a:pt x="4485562" y="4474190"/>
                          </a:cubicBezTo>
                          <a:cubicBezTo>
                            <a:pt x="4189845" y="4473914"/>
                            <a:pt x="4140807" y="4490460"/>
                            <a:pt x="3799912" y="4474190"/>
                          </a:cubicBezTo>
                          <a:cubicBezTo>
                            <a:pt x="3459017" y="4457921"/>
                            <a:pt x="3257398" y="4452371"/>
                            <a:pt x="3069406" y="4474190"/>
                          </a:cubicBezTo>
                          <a:cubicBezTo>
                            <a:pt x="2881414" y="4496009"/>
                            <a:pt x="2776196" y="4463545"/>
                            <a:pt x="2518323" y="4474190"/>
                          </a:cubicBezTo>
                          <a:cubicBezTo>
                            <a:pt x="2260450" y="4484835"/>
                            <a:pt x="2138715" y="4500066"/>
                            <a:pt x="1922384" y="4474190"/>
                          </a:cubicBezTo>
                          <a:cubicBezTo>
                            <a:pt x="1706053" y="4448314"/>
                            <a:pt x="1590437" y="4468345"/>
                            <a:pt x="1281589" y="4474190"/>
                          </a:cubicBezTo>
                          <a:cubicBezTo>
                            <a:pt x="972741" y="4480035"/>
                            <a:pt x="928910" y="4460111"/>
                            <a:pt x="685650" y="4474190"/>
                          </a:cubicBezTo>
                          <a:cubicBezTo>
                            <a:pt x="442390" y="4488269"/>
                            <a:pt x="151013" y="4466505"/>
                            <a:pt x="0" y="4474190"/>
                          </a:cubicBezTo>
                          <a:cubicBezTo>
                            <a:pt x="-23623" y="4246767"/>
                            <a:pt x="-6143" y="4076406"/>
                            <a:pt x="0" y="3835020"/>
                          </a:cubicBezTo>
                          <a:cubicBezTo>
                            <a:pt x="6143" y="3593634"/>
                            <a:pt x="1299" y="3518608"/>
                            <a:pt x="0" y="3285334"/>
                          </a:cubicBezTo>
                          <a:cubicBezTo>
                            <a:pt x="-1299" y="3052060"/>
                            <a:pt x="14385" y="2818996"/>
                            <a:pt x="0" y="2646164"/>
                          </a:cubicBezTo>
                          <a:cubicBezTo>
                            <a:pt x="-14385" y="2473332"/>
                            <a:pt x="27407" y="2338221"/>
                            <a:pt x="0" y="2096478"/>
                          </a:cubicBezTo>
                          <a:cubicBezTo>
                            <a:pt x="-27407" y="1854735"/>
                            <a:pt x="-2839" y="1774848"/>
                            <a:pt x="0" y="1502050"/>
                          </a:cubicBezTo>
                          <a:cubicBezTo>
                            <a:pt x="2839" y="1229252"/>
                            <a:pt x="-20771" y="1124532"/>
                            <a:pt x="0" y="952363"/>
                          </a:cubicBezTo>
                          <a:cubicBezTo>
                            <a:pt x="20771" y="780194"/>
                            <a:pt x="34491" y="228364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0D17C64-0705-F759-DA1D-7F13CC0E69FB}"/>
                </a:ext>
              </a:extLst>
            </p:cNvPr>
            <p:cNvSpPr txBox="1"/>
            <p:nvPr/>
          </p:nvSpPr>
          <p:spPr>
            <a:xfrm>
              <a:off x="4585600" y="1314306"/>
              <a:ext cx="4613547" cy="18158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Browse a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 catalog filtered by crop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,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 grade, district, organic certification and max price</a:t>
              </a:r>
              <a:endParaRPr lang="en-US" sz="1200" b="1">
                <a:solidFill>
                  <a:srgbClr val="FF0000"/>
                </a:solidFill>
                <a:latin typeface="Aptos Display"/>
                <a:cs typeface="Calibri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View lot details: farm origin coordinates,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harvest date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,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seller trust score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, packaging</a:t>
              </a:r>
              <a:endParaRPr lang="en-US" sz="1200">
                <a:latin typeface="Aptos Display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Submit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 bulk RFQs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 and place farm-gate purchase orders</a:t>
              </a:r>
              <a:endParaRPr lang="en-US" sz="1200">
                <a:latin typeface="Aptos Display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Track orders through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PLACED → CONFIRMED → BATCH_ASSIGNED → IN_TRANSIT → DELIVERED → COMPLETED</a:t>
              </a:r>
              <a:endParaRPr lang="en-US" sz="1200">
                <a:solidFill>
                  <a:srgbClr val="FF0000"/>
                </a:solidFill>
                <a:latin typeface="Aptos Display"/>
                <a:cs typeface="Calibri"/>
              </a:endParaRPr>
            </a:p>
            <a:p>
              <a:pPr marL="285750" indent="-285750" algn="l">
                <a:buFont typeface="Arial"/>
                <a:buChar char="•"/>
              </a:pPr>
              <a:endParaRPr lang="en-US" sz="1200" b="1">
                <a:solidFill>
                  <a:srgbClr val="FF0000"/>
                </a:solidFill>
                <a:latin typeface="Aptos Display"/>
                <a:ea typeface="Calibri"/>
                <a:cs typeface="Calibri"/>
              </a:endParaRPr>
            </a:p>
            <a:p>
              <a:endParaRPr lang="en-US" sz="1600">
                <a:solidFill>
                  <a:srgbClr val="FF0000"/>
                </a:solidFill>
                <a:latin typeface="Aptos Display"/>
                <a:cs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69B078-0334-2449-FA53-13D77E32250A}"/>
                </a:ext>
              </a:extLst>
            </p:cNvPr>
            <p:cNvSpPr txBox="1"/>
            <p:nvPr/>
          </p:nvSpPr>
          <p:spPr>
            <a:xfrm>
              <a:off x="4549253" y="2814852"/>
              <a:ext cx="4469641" cy="16004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i="0" strike="noStrike" baseline="0">
                  <a:solidFill>
                    <a:srgbClr val="000000"/>
                  </a:solidFill>
                  <a:latin typeface="Aptos Display"/>
                  <a:ea typeface="ＭＳ Ｐゴシック"/>
                </a:rPr>
                <a:t>Potential</a:t>
              </a:r>
              <a:r>
                <a:rPr b="0" i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rPr>
                <a:t>​</a:t>
              </a:r>
              <a:r>
                <a:rPr lang="en-US">
                  <a:latin typeface="Aptos Display"/>
                  <a:ea typeface="ＭＳ Ｐゴシック"/>
                </a:rPr>
                <a:t> </a:t>
              </a:r>
              <a:endParaRPr lang="en-US">
                <a:latin typeface="Aptos Display"/>
                <a:ea typeface="ＭＳ Ｐゴシック"/>
                <a:cs typeface="Calibri" pitchFamily="34" charset="0"/>
              </a:endParaRPr>
            </a:p>
            <a:p>
              <a:pPr marL="742950" lvl="1" indent="-285750">
                <a:buFont typeface="Arial"/>
                <a:buChar char="•"/>
              </a:pP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19.5% consumer price savings</a:t>
              </a:r>
              <a:endParaRPr lang="en-US" sz="1200">
                <a:solidFill>
                  <a:srgbClr val="FF0000"/>
                </a:solidFill>
                <a:latin typeface="Aptos Display"/>
                <a:cs typeface="Calibri"/>
              </a:endParaRPr>
            </a:p>
            <a:p>
              <a:pPr marL="742950" lvl="1" indent="-285750">
                <a:buFont typeface="Arial"/>
                <a:buChar char="•"/>
              </a:pPr>
              <a:r>
                <a:rPr lang="en-US" sz="1200">
                  <a:latin typeface="Aptos Display"/>
                  <a:ea typeface="Calibri"/>
                  <a:cs typeface="Calibri"/>
                </a:rPr>
                <a:t>Payment released only after a </a:t>
              </a:r>
              <a:r>
                <a:rPr lang="en-US" sz="1200" b="1">
                  <a:solidFill>
                    <a:srgbClr val="FF0000"/>
                  </a:solidFill>
                  <a:latin typeface="Aptos Display"/>
                  <a:ea typeface="Calibri"/>
                  <a:cs typeface="Calibri"/>
                </a:rPr>
                <a:t>buyer-provided delivery OTP</a:t>
              </a:r>
              <a:r>
                <a:rPr lang="en-US" sz="1200">
                  <a:latin typeface="Aptos Display"/>
                  <a:ea typeface="Calibri"/>
                  <a:cs typeface="Calibri"/>
                </a:rPr>
                <a:t> on physical inspection (escrow is currently a  simulation)</a:t>
              </a:r>
              <a:endParaRPr lang="en-US" sz="1200">
                <a:latin typeface="Aptos Display"/>
                <a:cs typeface="Calibri"/>
              </a:endParaRPr>
            </a:p>
            <a:p>
              <a:endParaRPr lang="en-US" sz="1600">
                <a:latin typeface="Aptos Display"/>
              </a:endParaRPr>
            </a:p>
            <a:p>
              <a:pPr algn="ctr"/>
              <a:endParaRPr lang="en-US" sz="1600">
                <a:latin typeface="Aptos Display"/>
                <a:cs typeface="Calibri" pitchFamily="34" charset="0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9D3B7C78-522A-7547-2BE7-A3FB5D4F71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72" y="3925748"/>
            <a:ext cx="10645255" cy="28847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9D98F07-B757-0F2C-E37E-BFC2FB9E2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974" y="1069075"/>
            <a:ext cx="2858923" cy="284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56764" y="66106"/>
            <a:ext cx="6901218" cy="710822"/>
          </a:xfrm>
        </p:spPr>
        <p:txBody>
          <a:bodyPr/>
          <a:lstStyle/>
          <a:p>
            <a:pPr eaLnBrk="1" hangingPunct="1"/>
            <a:r>
              <a:rPr lang="en-US" sz="2800" b="1">
                <a:solidFill>
                  <a:srgbClr val="0000FF"/>
                </a:solidFill>
                <a:latin typeface="Times New Roman"/>
                <a:ea typeface="ＭＳ Ｐゴシック"/>
                <a:cs typeface="Times New Roman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1929" y="1177391"/>
            <a:ext cx="11921508" cy="289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Research</a:t>
            </a:r>
            <a:endParaRPr lang="en-US" sz="2800" b="1">
              <a:solidFill>
                <a:prstClr val="black"/>
              </a:solidFill>
              <a:latin typeface="Aptos Display"/>
              <a:cs typeface="Calibri" pitchFamily="34" charset="0"/>
            </a:endParaRPr>
          </a:p>
          <a:p>
            <a:pPr marL="342900" indent="-342900">
              <a:buAutoNum type="arabicPeriod"/>
              <a:defRPr/>
            </a:pP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Examined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 e-NAM for online agricultural trading</a:t>
            </a: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, price transparency, and connectivity between farmers and buyers. </a:t>
            </a:r>
            <a:endParaRPr lang="en-US" sz="1900">
              <a:solidFill>
                <a:prstClr val="black"/>
              </a:solidFill>
              <a:latin typeface="Aptos Display"/>
            </a:endParaRPr>
          </a:p>
          <a:p>
            <a:pPr marL="342900" indent="-342900">
              <a:buAutoNum type="arabicPeriod"/>
              <a:defRPr/>
            </a:pP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Explored the model of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 Farmer Producer </a:t>
            </a:r>
            <a:r>
              <a:rPr lang="en-US" sz="1900" b="1" dirty="0" err="1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Organisation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 (FPO)</a:t>
            </a: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 for aggregation </a:t>
            </a:r>
            <a:r>
              <a:rPr lang="en-US" sz="1900" noProof="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of </a:t>
            </a: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small farmers and market accessibility. </a:t>
            </a:r>
            <a:endParaRPr lang="en-US" sz="1900">
              <a:solidFill>
                <a:prstClr val="black"/>
              </a:solidFill>
              <a:latin typeface="Aptos Display"/>
            </a:endParaRPr>
          </a:p>
          <a:p>
            <a:pPr marL="342900" indent="-342900">
              <a:buAutoNum type="arabicPeriod"/>
              <a:defRPr/>
            </a:pP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Used AI agents for research 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(Claude, </a:t>
            </a:r>
            <a:r>
              <a:rPr lang="en-US" sz="1900" b="1" dirty="0" err="1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Gemmni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, </a:t>
            </a:r>
            <a:r>
              <a:rPr lang="en-US" sz="1900" b="1" dirty="0" err="1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Chatgpt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) </a:t>
            </a:r>
            <a:endParaRPr lang="en-US" sz="1900" b="1">
              <a:solidFill>
                <a:srgbClr val="FF0000"/>
              </a:solidFill>
              <a:latin typeface="Aptos Display"/>
            </a:endParaRPr>
          </a:p>
          <a:p>
            <a:pPr marL="342900" indent="-342900">
              <a:buAutoNum type="arabicPeriod"/>
              <a:defRPr/>
            </a:pP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Examined 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current agricultural marketplaces</a:t>
            </a: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 in order to find out the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 flaws in small lot aggregation</a:t>
            </a:r>
            <a:r>
              <a:rPr lang="en-US" sz="1900" dirty="0">
                <a:solidFill>
                  <a:prstClr val="black"/>
                </a:solidFill>
                <a:latin typeface="Aptos Display"/>
                <a:ea typeface="Calibri"/>
                <a:cs typeface="Calibri"/>
              </a:rPr>
              <a:t>,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 trust of buyers, logistics optimization, and price recommendation using AI. </a:t>
            </a:r>
          </a:p>
          <a:p>
            <a:pPr marL="342900" indent="-342900">
              <a:buAutoNum type="arabicPeriod"/>
              <a:defRPr/>
            </a:pPr>
            <a:r>
              <a:rPr lang="en-US" sz="1900" dirty="0">
                <a:solidFill>
                  <a:prstClr val="black"/>
                </a:solidFill>
                <a:latin typeface="Aptos Display"/>
                <a:ea typeface="Microsoft Sans Serif"/>
                <a:cs typeface="Microsoft Sans Serif"/>
              </a:rPr>
              <a:t>Reviewed government initiatives supporting 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Arial"/>
              </a:rPr>
              <a:t>digital agriculture </a:t>
            </a:r>
            <a:r>
              <a:rPr lang="en-US" sz="1900" b="1" noProof="0" dirty="0">
                <a:solidFill>
                  <a:srgbClr val="FF0000"/>
                </a:solidFill>
                <a:latin typeface="Aptos Display"/>
                <a:ea typeface="Calibri"/>
                <a:cs typeface="Arial"/>
              </a:rPr>
              <a:t>and </a:t>
            </a:r>
            <a:r>
              <a:rPr lang="en-US" sz="1900" b="1" dirty="0">
                <a:solidFill>
                  <a:srgbClr val="FF0000"/>
                </a:solidFill>
                <a:latin typeface="Aptos Display"/>
                <a:ea typeface="Calibri"/>
                <a:cs typeface="Arial"/>
              </a:rPr>
              <a:t>direct market linkages</a:t>
            </a:r>
            <a:r>
              <a:rPr lang="en-US" sz="1900" dirty="0">
                <a:solidFill>
                  <a:srgbClr val="FF0000"/>
                </a:solidFill>
                <a:latin typeface="Aptos Display"/>
                <a:ea typeface="Microsoft Sans Serif"/>
                <a:cs typeface="Microsoft Sans Serif"/>
              </a:rPr>
              <a:t>.</a:t>
            </a:r>
            <a:endParaRPr lang="en-US" sz="1900">
              <a:solidFill>
                <a:srgbClr val="FF0000"/>
              </a:solidFill>
              <a:latin typeface="Aptos Display"/>
              <a:cs typeface="Calibri"/>
            </a:endParaRPr>
          </a:p>
          <a:p>
            <a:pPr marL="342900" indent="-342900">
              <a:lnSpc>
                <a:spcPts val="2590"/>
              </a:lnSpc>
              <a:spcBef>
                <a:spcPts val="95"/>
              </a:spcBef>
              <a:spcAft>
                <a:spcPts val="0"/>
              </a:spcAft>
              <a:buAutoNum type="arabicPeriod"/>
              <a:defRPr/>
            </a:pPr>
            <a:endParaRPr lang="en-US">
              <a:solidFill>
                <a:prstClr val="black"/>
              </a:solidFill>
              <a:latin typeface="Aptos Display"/>
              <a:ea typeface="Calibri"/>
              <a:cs typeface="Calibri"/>
            </a:endParaRPr>
          </a:p>
        </p:txBody>
      </p:sp>
      <p:sp>
        <p:nvSpPr>
          <p:cNvPr id="3" name="object 23">
            <a:extLst>
              <a:ext uri="{FF2B5EF4-FFF2-40B4-BE49-F238E27FC236}">
                <a16:creationId xmlns:a16="http://schemas.microsoft.com/office/drawing/2014/main" id="{D991490E-8323-EE46-D30B-F207D3F1A3F5}"/>
              </a:ext>
            </a:extLst>
          </p:cNvPr>
          <p:cNvSpPr/>
          <p:nvPr/>
        </p:nvSpPr>
        <p:spPr>
          <a:xfrm>
            <a:off x="6168" y="137282"/>
            <a:ext cx="2181768" cy="536061"/>
          </a:xfrm>
          <a:custGeom>
            <a:avLst/>
            <a:gdLst/>
            <a:ahLst/>
            <a:cxnLst/>
            <a:rect l="l" t="t" r="r" b="b"/>
            <a:pathLst>
              <a:path w="1710055" h="487680">
                <a:moveTo>
                  <a:pt x="0" y="243840"/>
                </a:moveTo>
                <a:lnTo>
                  <a:pt x="10794" y="204470"/>
                </a:lnTo>
                <a:lnTo>
                  <a:pt x="43179" y="167004"/>
                </a:lnTo>
                <a:lnTo>
                  <a:pt x="95249" y="131445"/>
                </a:lnTo>
                <a:lnTo>
                  <a:pt x="165100" y="99695"/>
                </a:lnTo>
                <a:lnTo>
                  <a:pt x="205740" y="85090"/>
                </a:lnTo>
                <a:lnTo>
                  <a:pt x="250190" y="71120"/>
                </a:lnTo>
                <a:lnTo>
                  <a:pt x="298450" y="58420"/>
                </a:lnTo>
                <a:lnTo>
                  <a:pt x="349885" y="46990"/>
                </a:lnTo>
                <a:lnTo>
                  <a:pt x="404495" y="36195"/>
                </a:lnTo>
                <a:lnTo>
                  <a:pt x="461644" y="27304"/>
                </a:lnTo>
                <a:lnTo>
                  <a:pt x="521969" y="19050"/>
                </a:lnTo>
                <a:lnTo>
                  <a:pt x="584835" y="12065"/>
                </a:lnTo>
                <a:lnTo>
                  <a:pt x="649605" y="6984"/>
                </a:lnTo>
                <a:lnTo>
                  <a:pt x="716280" y="3175"/>
                </a:lnTo>
                <a:lnTo>
                  <a:pt x="784860" y="634"/>
                </a:lnTo>
                <a:lnTo>
                  <a:pt x="854710" y="0"/>
                </a:lnTo>
                <a:lnTo>
                  <a:pt x="925194" y="634"/>
                </a:lnTo>
                <a:lnTo>
                  <a:pt x="993775" y="3175"/>
                </a:lnTo>
                <a:lnTo>
                  <a:pt x="1060450" y="6984"/>
                </a:lnTo>
                <a:lnTo>
                  <a:pt x="1125220" y="12065"/>
                </a:lnTo>
                <a:lnTo>
                  <a:pt x="1187450" y="19050"/>
                </a:lnTo>
                <a:lnTo>
                  <a:pt x="1247775" y="27304"/>
                </a:lnTo>
                <a:lnTo>
                  <a:pt x="1304925" y="36195"/>
                </a:lnTo>
                <a:lnTo>
                  <a:pt x="1359535" y="46990"/>
                </a:lnTo>
                <a:lnTo>
                  <a:pt x="1410970" y="58420"/>
                </a:lnTo>
                <a:lnTo>
                  <a:pt x="1459230" y="71120"/>
                </a:lnTo>
                <a:lnTo>
                  <a:pt x="1503680" y="85090"/>
                </a:lnTo>
                <a:lnTo>
                  <a:pt x="1544955" y="99695"/>
                </a:lnTo>
                <a:lnTo>
                  <a:pt x="1581785" y="115570"/>
                </a:lnTo>
                <a:lnTo>
                  <a:pt x="1642745" y="148590"/>
                </a:lnTo>
                <a:lnTo>
                  <a:pt x="1684655" y="185420"/>
                </a:lnTo>
                <a:lnTo>
                  <a:pt x="1706880" y="223520"/>
                </a:lnTo>
                <a:lnTo>
                  <a:pt x="1710055" y="243840"/>
                </a:lnTo>
                <a:lnTo>
                  <a:pt x="1706880" y="263525"/>
                </a:lnTo>
                <a:lnTo>
                  <a:pt x="1684655" y="302260"/>
                </a:lnTo>
                <a:lnTo>
                  <a:pt x="1642745" y="338454"/>
                </a:lnTo>
                <a:lnTo>
                  <a:pt x="1581785" y="372110"/>
                </a:lnTo>
                <a:lnTo>
                  <a:pt x="1544955" y="387985"/>
                </a:lnTo>
                <a:lnTo>
                  <a:pt x="1503680" y="402589"/>
                </a:lnTo>
                <a:lnTo>
                  <a:pt x="1459230" y="415925"/>
                </a:lnTo>
                <a:lnTo>
                  <a:pt x="1410970" y="428625"/>
                </a:lnTo>
                <a:lnTo>
                  <a:pt x="1359535" y="440689"/>
                </a:lnTo>
                <a:lnTo>
                  <a:pt x="1304925" y="450850"/>
                </a:lnTo>
                <a:lnTo>
                  <a:pt x="1247775" y="460375"/>
                </a:lnTo>
                <a:lnTo>
                  <a:pt x="1187450" y="468629"/>
                </a:lnTo>
                <a:lnTo>
                  <a:pt x="1125220" y="474979"/>
                </a:lnTo>
                <a:lnTo>
                  <a:pt x="1060450" y="480695"/>
                </a:lnTo>
                <a:lnTo>
                  <a:pt x="993775" y="484504"/>
                </a:lnTo>
                <a:lnTo>
                  <a:pt x="925194" y="487045"/>
                </a:lnTo>
                <a:lnTo>
                  <a:pt x="854710" y="487679"/>
                </a:lnTo>
                <a:lnTo>
                  <a:pt x="784860" y="487045"/>
                </a:lnTo>
                <a:lnTo>
                  <a:pt x="716280" y="484504"/>
                </a:lnTo>
                <a:lnTo>
                  <a:pt x="649605" y="480695"/>
                </a:lnTo>
                <a:lnTo>
                  <a:pt x="584835" y="474979"/>
                </a:lnTo>
                <a:lnTo>
                  <a:pt x="521969" y="468629"/>
                </a:lnTo>
                <a:lnTo>
                  <a:pt x="461644" y="460375"/>
                </a:lnTo>
                <a:lnTo>
                  <a:pt x="404495" y="450850"/>
                </a:lnTo>
                <a:lnTo>
                  <a:pt x="349885" y="440689"/>
                </a:lnTo>
                <a:lnTo>
                  <a:pt x="298450" y="428625"/>
                </a:lnTo>
                <a:lnTo>
                  <a:pt x="250190" y="415925"/>
                </a:lnTo>
                <a:lnTo>
                  <a:pt x="205740" y="402589"/>
                </a:lnTo>
                <a:lnTo>
                  <a:pt x="165100" y="387985"/>
                </a:lnTo>
                <a:lnTo>
                  <a:pt x="128270" y="372110"/>
                </a:lnTo>
                <a:lnTo>
                  <a:pt x="67310" y="338454"/>
                </a:lnTo>
                <a:lnTo>
                  <a:pt x="24765" y="302260"/>
                </a:lnTo>
                <a:lnTo>
                  <a:pt x="2540" y="263525"/>
                </a:lnTo>
                <a:lnTo>
                  <a:pt x="0" y="243840"/>
                </a:lnTo>
                <a:close/>
              </a:path>
            </a:pathLst>
          </a:custGeom>
          <a:ln w="12700">
            <a:solidFill>
              <a:srgbClr val="1C2E52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5" name="object 24">
            <a:extLst>
              <a:ext uri="{FF2B5EF4-FFF2-40B4-BE49-F238E27FC236}">
                <a16:creationId xmlns:a16="http://schemas.microsoft.com/office/drawing/2014/main" id="{44CB7E85-C53B-44F7-2172-BF837312466A}"/>
              </a:ext>
            </a:extLst>
          </p:cNvPr>
          <p:cNvSpPr txBox="1"/>
          <p:nvPr/>
        </p:nvSpPr>
        <p:spPr>
          <a:xfrm>
            <a:off x="253056" y="297421"/>
            <a:ext cx="1939258" cy="25904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kern="0"/>
            </a:defPPr>
          </a:lstStyle>
          <a:p>
            <a:pPr marL="12700">
              <a:spcBef>
                <a:spcPts val="100"/>
              </a:spcBef>
            </a:pPr>
            <a:r>
              <a:rPr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SINISTER</a:t>
            </a:r>
            <a:r>
              <a:rPr lang="en-US" sz="1600" b="1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 </a:t>
            </a:r>
            <a:r>
              <a:rPr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SIX</a:t>
            </a:r>
            <a:r>
              <a:rPr lang="en-US" sz="1600" b="1" spc="-25">
                <a:solidFill>
                  <a:srgbClr val="093D6B"/>
                </a:solidFill>
                <a:latin typeface="Verdana"/>
                <a:ea typeface="Verdana"/>
                <a:cs typeface="Times New Roman"/>
              </a:rPr>
              <a:t>*</a:t>
            </a:r>
            <a:endParaRPr lang="en-US" sz="1600">
              <a:latin typeface="Verdana"/>
              <a:ea typeface="Verdana"/>
              <a:cs typeface="Times New Roman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55D504-AB9B-9A88-D43F-06432D458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847" y="-30634"/>
            <a:ext cx="2056327" cy="9051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5332D3A-8AFE-0A81-AFA2-4E9B01593CFF}"/>
              </a:ext>
            </a:extLst>
          </p:cNvPr>
          <p:cNvSpPr/>
          <p:nvPr/>
        </p:nvSpPr>
        <p:spPr>
          <a:xfrm>
            <a:off x="134204" y="1046851"/>
            <a:ext cx="11923594" cy="273446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6DCC0A9D-F482-99F3-730D-BBEB1D978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46" y="4132600"/>
            <a:ext cx="11921508" cy="2512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prstClr val="black"/>
                </a:solidFill>
                <a:latin typeface="Aptos Display"/>
                <a:ea typeface="Microsoft Sans Serif"/>
                <a:cs typeface="Microsoft Sans Serif"/>
              </a:rPr>
              <a:t>References</a:t>
            </a:r>
          </a:p>
          <a:p>
            <a:pPr marL="342900" indent="-342900">
              <a:buAutoNum type="arabicPeriod"/>
              <a:defRPr/>
            </a:pPr>
            <a:r>
              <a:rPr lang="en-US">
                <a:latin typeface="Aptos Display"/>
                <a:ea typeface="Calibri"/>
                <a:cs typeface="Calibri"/>
              </a:rPr>
              <a:t>e-NAM (National Agriculture Market), Government of India:</a:t>
            </a:r>
            <a:r>
              <a:rPr lang="en-US" b="1">
                <a:solidFill>
                  <a:srgbClr val="0000FF"/>
                </a:solidFill>
                <a:latin typeface="Aptos Display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0000FF"/>
                </a:solidFill>
                <a:latin typeface="Aptos Display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https://enam.gov.in</a:t>
            </a:r>
            <a:endParaRPr lang="en-US" b="1">
              <a:solidFill>
                <a:srgbClr val="0000FF"/>
              </a:solidFill>
              <a:latin typeface="Aptos Display"/>
            </a:endParaRPr>
          </a:p>
          <a:p>
            <a:pPr marL="342900" indent="-342900">
              <a:buAutoNum type="arabicPeriod"/>
              <a:defRPr/>
            </a:pPr>
            <a:r>
              <a:rPr lang="en-US">
                <a:latin typeface="Aptos Display"/>
                <a:ea typeface="Calibri"/>
                <a:cs typeface="Calibri"/>
              </a:rPr>
              <a:t>Small Farmers' Agri-Business Consortium (SFAC), Ministry </a:t>
            </a:r>
            <a:r>
              <a:rPr lang="en-US" noProof="0">
                <a:latin typeface="Aptos Display"/>
                <a:ea typeface="Calibri"/>
                <a:cs typeface="Calibri"/>
              </a:rPr>
              <a:t>of </a:t>
            </a:r>
            <a:r>
              <a:rPr lang="en-US">
                <a:latin typeface="Aptos Display"/>
                <a:ea typeface="Calibri"/>
                <a:cs typeface="Calibri"/>
              </a:rPr>
              <a:t>Agriculture &amp; Farmers' Welfare:</a:t>
            </a:r>
            <a:r>
              <a:rPr lang="en-US" b="1">
                <a:solidFill>
                  <a:srgbClr val="0000FF"/>
                </a:solidFill>
                <a:latin typeface="Aptos Display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0000FF"/>
                </a:solidFill>
                <a:latin typeface="Aptos Display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https://www.sfacindia.com</a:t>
            </a:r>
            <a:endParaRPr lang="en-US" b="1">
              <a:solidFill>
                <a:srgbClr val="0000FF"/>
              </a:solidFill>
              <a:latin typeface="Aptos Display"/>
            </a:endParaRPr>
          </a:p>
          <a:p>
            <a:pPr marL="342900" indent="-342900">
              <a:buAutoNum type="arabicPeriod"/>
              <a:defRPr/>
            </a:pPr>
            <a:r>
              <a:rPr lang="en-US">
                <a:latin typeface="Aptos Display"/>
                <a:ea typeface="Calibri"/>
                <a:cs typeface="Calibri"/>
              </a:rPr>
              <a:t>Farmer Producer </a:t>
            </a:r>
            <a:r>
              <a:rPr lang="en-US">
                <a:latin typeface="Calibri"/>
                <a:ea typeface="Calibri"/>
                <a:cs typeface="Calibri"/>
              </a:rPr>
              <a:t>Organization</a:t>
            </a:r>
            <a:r>
              <a:rPr lang="en-US">
                <a:latin typeface="Aptos Display"/>
                <a:ea typeface="Calibri"/>
                <a:cs typeface="Calibri"/>
              </a:rPr>
              <a:t>(FPO) Scheme, SFAC:</a:t>
            </a:r>
            <a:r>
              <a:rPr lang="en-US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FF0000"/>
                </a:solidFill>
                <a:latin typeface="Aptos Display"/>
                <a:ea typeface="Calibri"/>
                <a:cs typeface="Calibri"/>
                <a:hlinkClick r:id="rId6"/>
              </a:rPr>
              <a:t>https://www.sfacindia.com/FPOS.aspx</a:t>
            </a:r>
            <a:endParaRPr lang="en-US" b="1">
              <a:solidFill>
                <a:srgbClr val="FF0000"/>
              </a:solidFill>
              <a:latin typeface="Aptos Display"/>
            </a:endParaRPr>
          </a:p>
          <a:p>
            <a:pPr marL="342900" indent="-342900">
              <a:buAutoNum type="arabicPeriod"/>
              <a:defRPr/>
            </a:pPr>
            <a:r>
              <a:rPr lang="en-US">
                <a:latin typeface="Aptos Display"/>
                <a:ea typeface="Calibri"/>
                <a:cs typeface="Calibri"/>
              </a:rPr>
              <a:t>NABARD, Farmer Producer </a:t>
            </a:r>
            <a:r>
              <a:rPr lang="en-US">
                <a:latin typeface="Calibri"/>
                <a:ea typeface="Calibri"/>
                <a:cs typeface="Calibri"/>
              </a:rPr>
              <a:t>Organizations</a:t>
            </a:r>
            <a:r>
              <a:rPr lang="en-US">
                <a:latin typeface="Aptos Display"/>
                <a:ea typeface="Calibri"/>
                <a:cs typeface="Calibri"/>
              </a:rPr>
              <a:t> &amp; Agricultural Market Linkages:</a:t>
            </a:r>
            <a:r>
              <a:rPr lang="en-US">
                <a:solidFill>
                  <a:srgbClr val="FF0000"/>
                </a:solidFill>
                <a:latin typeface="Aptos Display"/>
                <a:ea typeface="Calibri"/>
                <a:cs typeface="Calibri"/>
              </a:rPr>
              <a:t> </a:t>
            </a:r>
            <a:r>
              <a:rPr lang="en-US" b="1">
                <a:solidFill>
                  <a:srgbClr val="0000FF"/>
                </a:solidFill>
                <a:latin typeface="Aptos Display"/>
                <a:ea typeface="Calibri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https://www.nabard.org/contentsearch.aspx?AID=95&amp;Key=ntro</a:t>
            </a:r>
            <a:endParaRPr lang="en-US" b="1">
              <a:solidFill>
                <a:srgbClr val="0000FF"/>
              </a:solidFill>
              <a:latin typeface="Aptos Display"/>
              <a:cs typeface="Calibri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342900" indent="-342900">
              <a:buAutoNum type="arabicPeriod"/>
              <a:defRPr/>
            </a:pPr>
            <a:r>
              <a:rPr lang="en-US">
                <a:latin typeface="Aptos Display"/>
                <a:ea typeface="Calibri"/>
                <a:cs typeface="Calibri"/>
              </a:rPr>
              <a:t>Ministry of Agriculture &amp; Farmers' Welfare, Government of India</a:t>
            </a:r>
            <a:endParaRPr lang="en-US">
              <a:latin typeface="Aptos Display"/>
              <a:cs typeface="Calibri"/>
            </a:endParaRPr>
          </a:p>
          <a:p>
            <a:pPr marL="342900" indent="-342900">
              <a:lnSpc>
                <a:spcPts val="2590"/>
              </a:lnSpc>
              <a:spcBef>
                <a:spcPts val="95"/>
              </a:spcBef>
              <a:spcAft>
                <a:spcPts val="0"/>
              </a:spcAft>
              <a:buAutoNum type="arabicPeriod"/>
              <a:defRPr/>
            </a:pPr>
            <a:endParaRPr lang="en-US">
              <a:latin typeface="Aptos Display"/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151F8D-47BE-0592-061F-7D6736B4DFA2}"/>
              </a:ext>
            </a:extLst>
          </p:cNvPr>
          <p:cNvSpPr/>
          <p:nvPr/>
        </p:nvSpPr>
        <p:spPr>
          <a:xfrm>
            <a:off x="147021" y="4036179"/>
            <a:ext cx="11923594" cy="26135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KisanSetu- Direct Marketplace for Famers &amp; Buyers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Sarfarosh Alam</cp:lastModifiedBy>
  <cp:revision>5</cp:revision>
  <dcterms:created xsi:type="dcterms:W3CDTF">2013-12-12T18:46:50Z</dcterms:created>
  <dcterms:modified xsi:type="dcterms:W3CDTF">2026-09-23T17:51:48Z</dcterms:modified>
  <cp:category/>
</cp:coreProperties>
</file>